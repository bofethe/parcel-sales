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1" r:id="rId4"/>
  </p:sldMasterIdLst>
  <p:notesMasterIdLst>
    <p:notesMasterId r:id="rId25"/>
  </p:notesMasterIdLst>
  <p:handoutMasterIdLst>
    <p:handoutMasterId r:id="rId26"/>
  </p:handoutMasterIdLst>
  <p:sldIdLst>
    <p:sldId id="1519" r:id="rId5"/>
    <p:sldId id="1520" r:id="rId6"/>
    <p:sldId id="1499" r:id="rId7"/>
    <p:sldId id="1521" r:id="rId8"/>
    <p:sldId id="1522" r:id="rId9"/>
    <p:sldId id="1526" r:id="rId10"/>
    <p:sldId id="1530" r:id="rId11"/>
    <p:sldId id="1524" r:id="rId12"/>
    <p:sldId id="1536" r:id="rId13"/>
    <p:sldId id="1538" r:id="rId14"/>
    <p:sldId id="1531" r:id="rId15"/>
    <p:sldId id="1537" r:id="rId16"/>
    <p:sldId id="1543" r:id="rId17"/>
    <p:sldId id="1506" r:id="rId18"/>
    <p:sldId id="1534" r:id="rId19"/>
    <p:sldId id="1539" r:id="rId20"/>
    <p:sldId id="1540" r:id="rId21"/>
    <p:sldId id="1532" r:id="rId22"/>
    <p:sldId id="1535" r:id="rId23"/>
    <p:sldId id="152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471F2E-E011-F521-299E-65FC243E7E5E}" name="David Salaguinto" initials="DS" userId="S::davidsa@microsoft.com::9399e6ad-b974-43d0-b593-8c2804f84e0d" providerId="AD"/>
  <p188:author id="{DC3CAF61-3D39-8A1C-6AB6-F5CBCFCBEA47}" name="Vanessa Buzgheia (ALLEGIS GROUP HOLDINGS INC)" initials="" userId="S::v-vabuzgheia@microsoft.com::f3934b54-4599-40d0-96a8-d6208686f730" providerId="AD"/>
  <p188:author id="{9941987A-41B7-49AC-EE6E-03F2D0BD95BA}" name="Daria Naidenov" initials="DN" userId="S::danaidenov@microsoft.com::ab38ab5f-bdf0-4774-ae5a-d2782abb2027" providerId="AD"/>
  <p188:author id="{938A83C6-5466-7E91-1BB3-30B69285184B}" name="Fethe, Bo J" initials="" userId="S::bfethe3@gatech.edu::5645b770-a023-4ba0-b1b0-9cb089426b5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80808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11"/>
    <p:restoredTop sz="94704"/>
  </p:normalViewPr>
  <p:slideViewPr>
    <p:cSldViewPr snapToGrid="0">
      <p:cViewPr varScale="1">
        <p:scale>
          <a:sx n="117" d="100"/>
          <a:sy n="117" d="100"/>
        </p:scale>
        <p:origin x="176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9D005A-EF78-4DC8-A9B0-7B54127FABB3}" type="doc">
      <dgm:prSet loTypeId="urn:microsoft.com/office/officeart/2024/3/layout/ArchList1#2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C6C0E93-31C2-4367-9734-22A77E91F852}">
      <dgm:prSet phldrT="[Text]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kern="1200" dirty="0" err="1">
              <a:solidFill>
                <a:srgbClr val="FFFFFF"/>
              </a:solidFill>
              <a:latin typeface="+mn-lt"/>
              <a:ea typeface="+mn-ea"/>
              <a:cs typeface="+mn-cs"/>
            </a:rPr>
            <a:t>XGBoost</a:t>
          </a:r>
          <a:r>
            <a:rPr lang="en-US" sz="200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 performed the best, but had struggled with overfitting on small samples</a:t>
          </a:r>
          <a:endParaRPr lang="en-US" sz="2000" b="1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gm:t>
    </dgm:pt>
    <dgm:pt modelId="{8C6185DB-C15F-4142-9FFC-06798EBB4FD3}" type="parTrans" cxnId="{380048F8-519C-4DF3-983E-65F199CAF07C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57C15597-8730-4C5E-950A-E3E94A8A5729}" type="sibTrans" cxnId="{380048F8-519C-4DF3-983E-65F199CAF07C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>
            <a:solidFill>
              <a:schemeClr val="bg1"/>
            </a:solidFill>
            <a:latin typeface="+mn-lt"/>
          </a:endParaRPr>
        </a:p>
      </dgm:t>
    </dgm:pt>
    <dgm:pt modelId="{5DC4A6D3-8F5B-462C-98E5-9DBA04B5F5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300" b="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Predicting Sales Prices of the Houses Using </a:t>
          </a: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Regression Methods of Machine Learning. (Viktorovich, 2018)</a:t>
          </a:r>
          <a:r>
            <a:rPr lang="en-US" sz="1300" i="1" kern="1200" dirty="0"/>
            <a:t>,</a:t>
          </a:r>
          <a:endParaRPr lang="en-US" sz="1300" b="0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gm:t>
    </dgm:pt>
    <dgm:pt modelId="{05AC1DA1-5915-400C-AA8A-59903F7D8430}" type="parTrans" cxnId="{B8CDC488-4F8D-4EF9-86AB-BC5EDA02D830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EBE04370-C115-496A-829B-022F025D9929}" type="sibTrans" cxnId="{B8CDC488-4F8D-4EF9-86AB-BC5EDA02D830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6683C677-89E1-4E18-8444-F8D0F9174767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dirty="0">
              <a:solidFill>
                <a:schemeClr val="bg1"/>
              </a:solidFill>
              <a:latin typeface="+mn-lt"/>
            </a:rPr>
            <a:t>ANN and Random Forest outperformed hedonic methods </a:t>
          </a:r>
        </a:p>
      </dgm:t>
    </dgm:pt>
    <dgm:pt modelId="{9096D71F-9713-469B-ACE6-161111FE9A54}" type="parTrans" cxnId="{56C8B87E-0F96-4F20-8345-3069AB024E9E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09D8EA0C-EED3-4BB1-8AEF-7CFB760A7162}" type="sibTrans" cxnId="{56C8B87E-0F96-4F20-8345-3069AB024E9E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>
            <a:solidFill>
              <a:schemeClr val="bg1"/>
            </a:solidFill>
            <a:latin typeface="+mn-lt"/>
          </a:endParaRPr>
        </a:p>
      </dgm:t>
    </dgm:pt>
    <dgm:pt modelId="{56734F44-9D7F-4CFB-9CBD-E0EEABC32D3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300" b="0" dirty="0">
              <a:solidFill>
                <a:schemeClr val="bg1"/>
              </a:solidFill>
              <a:latin typeface="+mn-lt"/>
            </a:rPr>
            <a:t>Machine Learning, Deep Learning, and Hedonic Methods for Real Estate Price Prediction. (Yazdani, 2021</a:t>
          </a:r>
          <a:r>
            <a:rPr lang="en-US" sz="1400" b="0" dirty="0">
              <a:solidFill>
                <a:schemeClr val="bg1"/>
              </a:solidFill>
              <a:latin typeface="+mn-lt"/>
            </a:rPr>
            <a:t>)  </a:t>
          </a:r>
        </a:p>
      </dgm:t>
    </dgm:pt>
    <dgm:pt modelId="{A3AD6FCC-E4F5-46B4-B004-A23AC5C6F65B}" type="parTrans" cxnId="{BF038F71-DD3A-456F-94B1-E4A5F6A7590E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9C036100-254F-47F6-B01F-1758F7BB772A}" type="sibTrans" cxnId="{BF038F71-DD3A-456F-94B1-E4A5F6A7590E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1DD03B1B-225F-4F59-88E9-6E12FADD869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2000" kern="1200" dirty="0">
              <a:solidFill>
                <a:schemeClr val="bg1"/>
              </a:solidFill>
              <a:latin typeface="+mn-lt"/>
            </a:rPr>
            <a:t>Machine learning models outperformed traditional linear models, particularly boosting algorithms</a:t>
          </a:r>
          <a:endParaRPr lang="en-US" sz="2000" b="1" kern="1200" dirty="0">
            <a:solidFill>
              <a:srgbClr val="FFFFFF"/>
            </a:solidFill>
            <a:latin typeface="Century Gothic"/>
            <a:ea typeface="+mn-ea"/>
            <a:cs typeface="+mn-cs"/>
          </a:endParaRPr>
        </a:p>
      </dgm:t>
    </dgm:pt>
    <dgm:pt modelId="{FE2FFDD7-EC33-4C15-918C-5DE14D4351F6}" type="parTrans" cxnId="{3651E0FD-E66F-4F72-99C5-BD809EC3C96C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36F1427C-26E2-4129-AD15-F3263C896B71}" type="sibTrans" cxnId="{3651E0FD-E66F-4F72-99C5-BD809EC3C96C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F6C60737-054A-4D4C-890B-C348D450576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Housing Price Prediction Using Machine Learning Algorithms in COVID-19 Times. (Mora-Garcia, 2022)</a:t>
          </a:r>
        </a:p>
      </dgm:t>
    </dgm:pt>
    <dgm:pt modelId="{AD74D646-4FE6-49CB-B06E-B0BEE753FD5B}" type="parTrans" cxnId="{6193C484-8ABE-4C8E-BC1B-11825138E8E6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33DDF299-F25D-43EA-B386-54F6148ECB5B}" type="sibTrans" cxnId="{6193C484-8ABE-4C8E-BC1B-11825138E8E6}">
      <dgm:prSet/>
      <dgm:spPr/>
      <dgm:t>
        <a:bodyPr/>
        <a:lstStyle/>
        <a:p>
          <a:endParaRPr lang="en-US">
            <a:solidFill>
              <a:schemeClr val="bg1"/>
            </a:solidFill>
            <a:latin typeface="+mn-lt"/>
          </a:endParaRPr>
        </a:p>
      </dgm:t>
    </dgm:pt>
    <dgm:pt modelId="{439189D0-7625-4BFC-AE7F-D155DAEB60E0}" type="pres">
      <dgm:prSet presAssocID="{F79D005A-EF78-4DC8-A9B0-7B54127FABB3}" presName="Name0" presStyleCnt="0">
        <dgm:presLayoutVars>
          <dgm:dir/>
          <dgm:resizeHandles val="exact"/>
        </dgm:presLayoutVars>
      </dgm:prSet>
      <dgm:spPr/>
    </dgm:pt>
    <dgm:pt modelId="{427D038D-8874-450F-AD39-DCA5940C79C2}" type="pres">
      <dgm:prSet presAssocID="{5C6C0E93-31C2-4367-9734-22A77E91F852}" presName="compNode" presStyleCnt="0"/>
      <dgm:spPr/>
    </dgm:pt>
    <dgm:pt modelId="{C046629B-369E-4F2D-9BA1-5E3C2DFD91CF}" type="pres">
      <dgm:prSet presAssocID="{5C6C0E93-31C2-4367-9734-22A77E91F852}" presName="pictRect" presStyleLbl="revTx" presStyleIdx="0" presStyleCnt="6">
        <dgm:presLayoutVars>
          <dgm:chMax val="0"/>
          <dgm:bulletEnabled/>
        </dgm:presLayoutVars>
      </dgm:prSet>
      <dgm:spPr/>
    </dgm:pt>
    <dgm:pt modelId="{922F7867-BAA8-4280-885B-E9A3B540D23F}" type="pres">
      <dgm:prSet presAssocID="{5C6C0E93-31C2-4367-9734-22A77E91F852}" presName="textRect" presStyleLbl="revTx" presStyleIdx="1" presStyleCnt="6" custScaleY="71562" custLinFactNeighborY="3157">
        <dgm:presLayoutVars>
          <dgm:bulletEnabled/>
        </dgm:presLayoutVars>
      </dgm:prSet>
      <dgm:spPr/>
    </dgm:pt>
    <dgm:pt modelId="{5B9D68AB-F95F-4888-AF28-C7B8CC572246}" type="pres">
      <dgm:prSet presAssocID="{57C15597-8730-4C5E-950A-E3E94A8A5729}" presName="sibTrans" presStyleLbl="sibTrans2D1" presStyleIdx="0" presStyleCnt="0"/>
      <dgm:spPr/>
    </dgm:pt>
    <dgm:pt modelId="{48C5B127-2DFE-4CE5-9384-32D732EE91F1}" type="pres">
      <dgm:prSet presAssocID="{6683C677-89E1-4E18-8444-F8D0F9174767}" presName="compNode" presStyleCnt="0"/>
      <dgm:spPr/>
    </dgm:pt>
    <dgm:pt modelId="{149E8246-107E-446D-83A2-2619E61A535F}" type="pres">
      <dgm:prSet presAssocID="{6683C677-89E1-4E18-8444-F8D0F9174767}" presName="pictRect" presStyleLbl="revTx" presStyleIdx="2" presStyleCnt="6">
        <dgm:presLayoutVars>
          <dgm:chMax val="0"/>
          <dgm:bulletEnabled/>
        </dgm:presLayoutVars>
      </dgm:prSet>
      <dgm:spPr/>
    </dgm:pt>
    <dgm:pt modelId="{8EE598D4-3436-4B47-84B1-DAD22BF1454E}" type="pres">
      <dgm:prSet presAssocID="{6683C677-89E1-4E18-8444-F8D0F9174767}" presName="textRect" presStyleLbl="revTx" presStyleIdx="3" presStyleCnt="6" custScaleY="71695" custLinFactNeighborY="3157">
        <dgm:presLayoutVars>
          <dgm:bulletEnabled/>
        </dgm:presLayoutVars>
      </dgm:prSet>
      <dgm:spPr/>
    </dgm:pt>
    <dgm:pt modelId="{4AFCB975-8743-43A1-8661-60F23E9B89A3}" type="pres">
      <dgm:prSet presAssocID="{09D8EA0C-EED3-4BB1-8AEF-7CFB760A7162}" presName="sibTrans" presStyleLbl="sibTrans2D1" presStyleIdx="0" presStyleCnt="0"/>
      <dgm:spPr/>
    </dgm:pt>
    <dgm:pt modelId="{CDF5A025-CFDC-4004-91F9-1AE14552A37B}" type="pres">
      <dgm:prSet presAssocID="{1DD03B1B-225F-4F59-88E9-6E12FADD869B}" presName="compNode" presStyleCnt="0"/>
      <dgm:spPr/>
    </dgm:pt>
    <dgm:pt modelId="{7601E8C4-7F17-4695-B1CE-57EF4035A40F}" type="pres">
      <dgm:prSet presAssocID="{1DD03B1B-225F-4F59-88E9-6E12FADD869B}" presName="pictRect" presStyleLbl="revTx" presStyleIdx="4" presStyleCnt="6">
        <dgm:presLayoutVars>
          <dgm:chMax val="0"/>
          <dgm:bulletEnabled/>
        </dgm:presLayoutVars>
      </dgm:prSet>
      <dgm:spPr/>
    </dgm:pt>
    <dgm:pt modelId="{4089A5D8-997B-4184-99FA-4FC49BC3D349}" type="pres">
      <dgm:prSet presAssocID="{1DD03B1B-225F-4F59-88E9-6E12FADD869B}" presName="textRect" presStyleLbl="revTx" presStyleIdx="5" presStyleCnt="6" custScaleY="71917" custLinFactNeighborY="3157">
        <dgm:presLayoutVars>
          <dgm:bulletEnabled/>
        </dgm:presLayoutVars>
      </dgm:prSet>
      <dgm:spPr/>
    </dgm:pt>
  </dgm:ptLst>
  <dgm:cxnLst>
    <dgm:cxn modelId="{6E9CBC10-6408-4B6B-9D91-3B6CF69723A7}" type="presOf" srcId="{56734F44-9D7F-4CFB-9CBD-E0EEABC32D3D}" destId="{8EE598D4-3436-4B47-84B1-DAD22BF1454E}" srcOrd="0" destOrd="0" presId="urn:microsoft.com/office/officeart/2024/3/layout/ArchList1#26"/>
    <dgm:cxn modelId="{F20F3214-47B8-4901-993F-1C150E72B110}" type="presOf" srcId="{F79D005A-EF78-4DC8-A9B0-7B54127FABB3}" destId="{439189D0-7625-4BFC-AE7F-D155DAEB60E0}" srcOrd="0" destOrd="0" presId="urn:microsoft.com/office/officeart/2024/3/layout/ArchList1#26"/>
    <dgm:cxn modelId="{C8E9B118-1144-4153-9F17-68806EA98F56}" type="presOf" srcId="{09D8EA0C-EED3-4BB1-8AEF-7CFB760A7162}" destId="{4AFCB975-8743-43A1-8661-60F23E9B89A3}" srcOrd="0" destOrd="0" presId="urn:microsoft.com/office/officeart/2024/3/layout/ArchList1#26"/>
    <dgm:cxn modelId="{8BAEE11B-222F-42FE-A09C-06651794E8C6}" type="presOf" srcId="{5C6C0E93-31C2-4367-9734-22A77E91F852}" destId="{C046629B-369E-4F2D-9BA1-5E3C2DFD91CF}" srcOrd="0" destOrd="0" presId="urn:microsoft.com/office/officeart/2024/3/layout/ArchList1#26"/>
    <dgm:cxn modelId="{AA786369-BAB6-4E7D-8D40-3038C2F9BD94}" type="presOf" srcId="{F6C60737-054A-4D4C-890B-C348D450576A}" destId="{4089A5D8-997B-4184-99FA-4FC49BC3D349}" srcOrd="0" destOrd="0" presId="urn:microsoft.com/office/officeart/2024/3/layout/ArchList1#26"/>
    <dgm:cxn modelId="{BF038F71-DD3A-456F-94B1-E4A5F6A7590E}" srcId="{6683C677-89E1-4E18-8444-F8D0F9174767}" destId="{56734F44-9D7F-4CFB-9CBD-E0EEABC32D3D}" srcOrd="0" destOrd="0" parTransId="{A3AD6FCC-E4F5-46B4-B004-A23AC5C6F65B}" sibTransId="{9C036100-254F-47F6-B01F-1758F7BB772A}"/>
    <dgm:cxn modelId="{08D96A7A-7B33-4E0A-B8CD-43FF03620A4D}" type="presOf" srcId="{6683C677-89E1-4E18-8444-F8D0F9174767}" destId="{149E8246-107E-446D-83A2-2619E61A535F}" srcOrd="0" destOrd="0" presId="urn:microsoft.com/office/officeart/2024/3/layout/ArchList1#26"/>
    <dgm:cxn modelId="{56C8B87E-0F96-4F20-8345-3069AB024E9E}" srcId="{F79D005A-EF78-4DC8-A9B0-7B54127FABB3}" destId="{6683C677-89E1-4E18-8444-F8D0F9174767}" srcOrd="1" destOrd="0" parTransId="{9096D71F-9713-469B-ACE6-161111FE9A54}" sibTransId="{09D8EA0C-EED3-4BB1-8AEF-7CFB760A7162}"/>
    <dgm:cxn modelId="{D1B1DD7F-1A0E-4B47-A656-BC529ACC4476}" type="presOf" srcId="{5DC4A6D3-8F5B-462C-98E5-9DBA04B5F5C0}" destId="{922F7867-BAA8-4280-885B-E9A3B540D23F}" srcOrd="0" destOrd="0" presId="urn:microsoft.com/office/officeart/2024/3/layout/ArchList1#26"/>
    <dgm:cxn modelId="{6193C484-8ABE-4C8E-BC1B-11825138E8E6}" srcId="{1DD03B1B-225F-4F59-88E9-6E12FADD869B}" destId="{F6C60737-054A-4D4C-890B-C348D450576A}" srcOrd="0" destOrd="0" parTransId="{AD74D646-4FE6-49CB-B06E-B0BEE753FD5B}" sibTransId="{33DDF299-F25D-43EA-B386-54F6148ECB5B}"/>
    <dgm:cxn modelId="{B8CDC488-4F8D-4EF9-86AB-BC5EDA02D830}" srcId="{5C6C0E93-31C2-4367-9734-22A77E91F852}" destId="{5DC4A6D3-8F5B-462C-98E5-9DBA04B5F5C0}" srcOrd="0" destOrd="0" parTransId="{05AC1DA1-5915-400C-AA8A-59903F7D8430}" sibTransId="{EBE04370-C115-496A-829B-022F025D9929}"/>
    <dgm:cxn modelId="{B029E4AA-8B93-47D3-B437-B1BD6DD71A20}" type="presOf" srcId="{1DD03B1B-225F-4F59-88E9-6E12FADD869B}" destId="{7601E8C4-7F17-4695-B1CE-57EF4035A40F}" srcOrd="0" destOrd="0" presId="urn:microsoft.com/office/officeart/2024/3/layout/ArchList1#26"/>
    <dgm:cxn modelId="{3D5AEDEE-0A77-43E9-86F0-551CA752D47B}" type="presOf" srcId="{57C15597-8730-4C5E-950A-E3E94A8A5729}" destId="{5B9D68AB-F95F-4888-AF28-C7B8CC572246}" srcOrd="0" destOrd="0" presId="urn:microsoft.com/office/officeart/2024/3/layout/ArchList1#26"/>
    <dgm:cxn modelId="{380048F8-519C-4DF3-983E-65F199CAF07C}" srcId="{F79D005A-EF78-4DC8-A9B0-7B54127FABB3}" destId="{5C6C0E93-31C2-4367-9734-22A77E91F852}" srcOrd="0" destOrd="0" parTransId="{8C6185DB-C15F-4142-9FFC-06798EBB4FD3}" sibTransId="{57C15597-8730-4C5E-950A-E3E94A8A5729}"/>
    <dgm:cxn modelId="{3651E0FD-E66F-4F72-99C5-BD809EC3C96C}" srcId="{F79D005A-EF78-4DC8-A9B0-7B54127FABB3}" destId="{1DD03B1B-225F-4F59-88E9-6E12FADD869B}" srcOrd="2" destOrd="0" parTransId="{FE2FFDD7-EC33-4C15-918C-5DE14D4351F6}" sibTransId="{36F1427C-26E2-4129-AD15-F3263C896B71}"/>
    <dgm:cxn modelId="{C4441C21-4D4A-419E-BDB5-0EFDEC6881AA}" type="presParOf" srcId="{439189D0-7625-4BFC-AE7F-D155DAEB60E0}" destId="{427D038D-8874-450F-AD39-DCA5940C79C2}" srcOrd="0" destOrd="0" presId="urn:microsoft.com/office/officeart/2024/3/layout/ArchList1#26"/>
    <dgm:cxn modelId="{35BD9CA1-4C81-4437-9E5F-F14F1F9C26BE}" type="presParOf" srcId="{427D038D-8874-450F-AD39-DCA5940C79C2}" destId="{C046629B-369E-4F2D-9BA1-5E3C2DFD91CF}" srcOrd="0" destOrd="0" presId="urn:microsoft.com/office/officeart/2024/3/layout/ArchList1#26"/>
    <dgm:cxn modelId="{0B25A04F-F6D2-4255-AE2F-F93FD358A9F0}" type="presParOf" srcId="{427D038D-8874-450F-AD39-DCA5940C79C2}" destId="{922F7867-BAA8-4280-885B-E9A3B540D23F}" srcOrd="1" destOrd="0" presId="urn:microsoft.com/office/officeart/2024/3/layout/ArchList1#26"/>
    <dgm:cxn modelId="{4FBA8DEA-058A-488C-9128-632035E3EAD3}" type="presParOf" srcId="{439189D0-7625-4BFC-AE7F-D155DAEB60E0}" destId="{5B9D68AB-F95F-4888-AF28-C7B8CC572246}" srcOrd="1" destOrd="0" presId="urn:microsoft.com/office/officeart/2024/3/layout/ArchList1#26"/>
    <dgm:cxn modelId="{E32CAB04-EB91-48B0-88D3-91BB21C269B5}" type="presParOf" srcId="{439189D0-7625-4BFC-AE7F-D155DAEB60E0}" destId="{48C5B127-2DFE-4CE5-9384-32D732EE91F1}" srcOrd="2" destOrd="0" presId="urn:microsoft.com/office/officeart/2024/3/layout/ArchList1#26"/>
    <dgm:cxn modelId="{3247B220-9C19-44F7-B795-F64ED64B9E4D}" type="presParOf" srcId="{48C5B127-2DFE-4CE5-9384-32D732EE91F1}" destId="{149E8246-107E-446D-83A2-2619E61A535F}" srcOrd="0" destOrd="0" presId="urn:microsoft.com/office/officeart/2024/3/layout/ArchList1#26"/>
    <dgm:cxn modelId="{2B0159A6-CBB2-4720-AD9D-7D0D21E11BFE}" type="presParOf" srcId="{48C5B127-2DFE-4CE5-9384-32D732EE91F1}" destId="{8EE598D4-3436-4B47-84B1-DAD22BF1454E}" srcOrd="1" destOrd="0" presId="urn:microsoft.com/office/officeart/2024/3/layout/ArchList1#26"/>
    <dgm:cxn modelId="{C4A25BD5-B19C-4B50-B226-AE9161EA5D48}" type="presParOf" srcId="{439189D0-7625-4BFC-AE7F-D155DAEB60E0}" destId="{4AFCB975-8743-43A1-8661-60F23E9B89A3}" srcOrd="3" destOrd="0" presId="urn:microsoft.com/office/officeart/2024/3/layout/ArchList1#26"/>
    <dgm:cxn modelId="{3904024F-68F4-46C4-B2F0-EFA55405E3F3}" type="presParOf" srcId="{439189D0-7625-4BFC-AE7F-D155DAEB60E0}" destId="{CDF5A025-CFDC-4004-91F9-1AE14552A37B}" srcOrd="4" destOrd="0" presId="urn:microsoft.com/office/officeart/2024/3/layout/ArchList1#26"/>
    <dgm:cxn modelId="{6E5E03FD-89E3-4F21-880B-A61477759132}" type="presParOf" srcId="{CDF5A025-CFDC-4004-91F9-1AE14552A37B}" destId="{7601E8C4-7F17-4695-B1CE-57EF4035A40F}" srcOrd="0" destOrd="0" presId="urn:microsoft.com/office/officeart/2024/3/layout/ArchList1#26"/>
    <dgm:cxn modelId="{387C8A76-3DF5-4D94-95AC-2E13970FACED}" type="presParOf" srcId="{CDF5A025-CFDC-4004-91F9-1AE14552A37B}" destId="{4089A5D8-997B-4184-99FA-4FC49BC3D349}" srcOrd="1" destOrd="0" presId="urn:microsoft.com/office/officeart/2024/3/layout/ArchList1#2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46629B-369E-4F2D-9BA1-5E3C2DFD91CF}">
      <dsp:nvSpPr>
        <dsp:cNvPr id="0" name=""/>
        <dsp:cNvSpPr/>
      </dsp:nvSpPr>
      <dsp:spPr>
        <a:xfrm>
          <a:off x="0" y="1644"/>
          <a:ext cx="3403203" cy="12979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5400" rIns="25400" bIns="2540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 err="1">
              <a:solidFill>
                <a:srgbClr val="FFFFFF"/>
              </a:solidFill>
              <a:latin typeface="+mn-lt"/>
              <a:ea typeface="+mn-ea"/>
              <a:cs typeface="+mn-cs"/>
            </a:rPr>
            <a:t>XGBoost</a:t>
          </a:r>
          <a:r>
            <a:rPr lang="en-US" sz="200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 performed the best, but had struggled with overfitting on small samples</a:t>
          </a:r>
          <a:endParaRPr lang="en-US" sz="2000" b="1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sp:txBody>
      <dsp:txXfrm>
        <a:off x="0" y="1644"/>
        <a:ext cx="3403203" cy="1297978"/>
      </dsp:txXfrm>
    </dsp:sp>
    <dsp:sp modelId="{922F7867-BAA8-4280-885B-E9A3B540D23F}">
      <dsp:nvSpPr>
        <dsp:cNvPr id="0" name=""/>
        <dsp:cNvSpPr/>
      </dsp:nvSpPr>
      <dsp:spPr>
        <a:xfrm>
          <a:off x="0" y="1621604"/>
          <a:ext cx="3403203" cy="132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>
              <a:solidFill>
                <a:srgbClr val="FFFFFF"/>
              </a:solidFill>
              <a:latin typeface="+mn-lt"/>
              <a:ea typeface="+mn-ea"/>
              <a:cs typeface="+mn-cs"/>
            </a:rPr>
            <a:t>Predicting Sales Prices of the Houses Using </a:t>
          </a: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Regression Methods of Machine Learning. (Viktorovich, 2018)</a:t>
          </a:r>
          <a:r>
            <a:rPr lang="en-US" sz="1300" i="1" kern="1200" dirty="0"/>
            <a:t>,</a:t>
          </a:r>
          <a:endParaRPr lang="en-US" sz="1300" b="0" kern="1200" dirty="0">
            <a:solidFill>
              <a:srgbClr val="FFFFFF"/>
            </a:solidFill>
            <a:latin typeface="+mn-lt"/>
            <a:ea typeface="+mn-ea"/>
            <a:cs typeface="+mn-cs"/>
          </a:endParaRPr>
        </a:p>
      </dsp:txBody>
      <dsp:txXfrm>
        <a:off x="0" y="1621604"/>
        <a:ext cx="3403203" cy="1326062"/>
      </dsp:txXfrm>
    </dsp:sp>
    <dsp:sp modelId="{149E8246-107E-446D-83A2-2619E61A535F}">
      <dsp:nvSpPr>
        <dsp:cNvPr id="0" name=""/>
        <dsp:cNvSpPr/>
      </dsp:nvSpPr>
      <dsp:spPr>
        <a:xfrm>
          <a:off x="3743523" y="1028"/>
          <a:ext cx="3403203" cy="12979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5400" rIns="25400" bIns="2540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>
              <a:solidFill>
                <a:schemeClr val="bg1"/>
              </a:solidFill>
              <a:latin typeface="+mn-lt"/>
            </a:rPr>
            <a:t>ANN and Random Forest outperformed hedonic methods </a:t>
          </a:r>
        </a:p>
      </dsp:txBody>
      <dsp:txXfrm>
        <a:off x="3743523" y="1028"/>
        <a:ext cx="3403203" cy="1297978"/>
      </dsp:txXfrm>
    </dsp:sp>
    <dsp:sp modelId="{8EE598D4-3436-4B47-84B1-DAD22BF1454E}">
      <dsp:nvSpPr>
        <dsp:cNvPr id="0" name=""/>
        <dsp:cNvSpPr/>
      </dsp:nvSpPr>
      <dsp:spPr>
        <a:xfrm>
          <a:off x="3743523" y="1619756"/>
          <a:ext cx="3403203" cy="13285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>
              <a:solidFill>
                <a:schemeClr val="bg1"/>
              </a:solidFill>
              <a:latin typeface="+mn-lt"/>
            </a:rPr>
            <a:t>Machine Learning, Deep Learning, and Hedonic Methods for Real Estate Price Prediction. (Yazdani, 2021</a:t>
          </a:r>
          <a:r>
            <a:rPr lang="en-US" sz="1400" b="0" kern="1200" dirty="0">
              <a:solidFill>
                <a:schemeClr val="bg1"/>
              </a:solidFill>
              <a:latin typeface="+mn-lt"/>
            </a:rPr>
            <a:t>)  </a:t>
          </a:r>
        </a:p>
      </dsp:txBody>
      <dsp:txXfrm>
        <a:off x="3743523" y="1619756"/>
        <a:ext cx="3403203" cy="1328526"/>
      </dsp:txXfrm>
    </dsp:sp>
    <dsp:sp modelId="{7601E8C4-7F17-4695-B1CE-57EF4035A40F}">
      <dsp:nvSpPr>
        <dsp:cNvPr id="0" name=""/>
        <dsp:cNvSpPr/>
      </dsp:nvSpPr>
      <dsp:spPr>
        <a:xfrm>
          <a:off x="7487046" y="0"/>
          <a:ext cx="3403203" cy="12979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5400" rIns="25400" bIns="2540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>
              <a:solidFill>
                <a:schemeClr val="bg1"/>
              </a:solidFill>
              <a:latin typeface="+mn-lt"/>
            </a:rPr>
            <a:t>Machine learning models outperformed traditional linear models, particularly boosting algorithms</a:t>
          </a:r>
          <a:endParaRPr lang="en-US" sz="2000" b="1" kern="1200" dirty="0">
            <a:solidFill>
              <a:srgbClr val="FFFFFF"/>
            </a:solidFill>
            <a:latin typeface="Century Gothic"/>
            <a:ea typeface="+mn-ea"/>
            <a:cs typeface="+mn-cs"/>
          </a:endParaRPr>
        </a:p>
      </dsp:txBody>
      <dsp:txXfrm>
        <a:off x="7487046" y="0"/>
        <a:ext cx="3403203" cy="1297978"/>
      </dsp:txXfrm>
    </dsp:sp>
    <dsp:sp modelId="{4089A5D8-997B-4184-99FA-4FC49BC3D349}">
      <dsp:nvSpPr>
        <dsp:cNvPr id="0" name=""/>
        <dsp:cNvSpPr/>
      </dsp:nvSpPr>
      <dsp:spPr>
        <a:xfrm>
          <a:off x="7487046" y="1616671"/>
          <a:ext cx="3403203" cy="13326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>
              <a:solidFill>
                <a:srgbClr val="FFFFFF"/>
              </a:solidFill>
              <a:latin typeface="Century Gothic"/>
              <a:ea typeface="+mn-ea"/>
              <a:cs typeface="+mn-cs"/>
            </a:rPr>
            <a:t>Housing Price Prediction Using Machine Learning Algorithms in COVID-19 Times. (Mora-Garcia, 2022)</a:t>
          </a:r>
        </a:p>
      </dsp:txBody>
      <dsp:txXfrm>
        <a:off x="7487046" y="1616671"/>
        <a:ext cx="3403203" cy="13326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ArchList1#26">
  <dgm:title val="Flexible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linDir" val="from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6/10/25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6/10/25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5133810"/>
            <a:ext cx="11460480" cy="786384"/>
          </a:xfrm>
        </p:spPr>
        <p:txBody>
          <a:bodyPr anchor="b">
            <a:norm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5888407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FD76F-A613-5199-3B43-F4D09950F8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33E2CF8-F9ED-49BB-7C96-2E9AAC0567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450" y="586298"/>
            <a:ext cx="11353549" cy="4222152"/>
          </a:xfrm>
          <a:custGeom>
            <a:avLst/>
            <a:gdLst>
              <a:gd name="connsiteX0" fmla="*/ 1782161 w 11002360"/>
              <a:gd name="connsiteY0" fmla="*/ 0 h 4091552"/>
              <a:gd name="connsiteX1" fmla="*/ 11002360 w 11002360"/>
              <a:gd name="connsiteY1" fmla="*/ 0 h 4091552"/>
              <a:gd name="connsiteX2" fmla="*/ 11002360 w 11002360"/>
              <a:gd name="connsiteY2" fmla="*/ 4091552 h 4091552"/>
              <a:gd name="connsiteX3" fmla="*/ 3300114 w 11002360"/>
              <a:gd name="connsiteY3" fmla="*/ 4091552 h 4091552"/>
              <a:gd name="connsiteX4" fmla="*/ 1782161 w 11002360"/>
              <a:gd name="connsiteY4" fmla="*/ 4091552 h 4091552"/>
              <a:gd name="connsiteX5" fmla="*/ 306686 w 11002360"/>
              <a:gd name="connsiteY5" fmla="*/ 4091552 h 4091552"/>
              <a:gd name="connsiteX6" fmla="*/ 0 w 11002360"/>
              <a:gd name="connsiteY6" fmla="*/ 3784866 h 4091552"/>
              <a:gd name="connsiteX7" fmla="*/ 0 w 11002360"/>
              <a:gd name="connsiteY7" fmla="*/ 306687 h 4091552"/>
              <a:gd name="connsiteX8" fmla="*/ 306686 w 11002360"/>
              <a:gd name="connsiteY8" fmla="*/ 1 h 4091552"/>
              <a:gd name="connsiteX9" fmla="*/ 1782161 w 11002360"/>
              <a:gd name="connsiteY9" fmla="*/ 1 h 4091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2360" h="4091552">
                <a:moveTo>
                  <a:pt x="1782161" y="0"/>
                </a:moveTo>
                <a:lnTo>
                  <a:pt x="11002360" y="0"/>
                </a:lnTo>
                <a:lnTo>
                  <a:pt x="11002360" y="4091552"/>
                </a:lnTo>
                <a:lnTo>
                  <a:pt x="3300114" y="4091552"/>
                </a:lnTo>
                <a:lnTo>
                  <a:pt x="1782161" y="4091552"/>
                </a:lnTo>
                <a:lnTo>
                  <a:pt x="306686" y="4091552"/>
                </a:lnTo>
                <a:cubicBezTo>
                  <a:pt x="137308" y="4091552"/>
                  <a:pt x="0" y="3954244"/>
                  <a:pt x="0" y="3784866"/>
                </a:cubicBezTo>
                <a:lnTo>
                  <a:pt x="0" y="306687"/>
                </a:lnTo>
                <a:cubicBezTo>
                  <a:pt x="0" y="137309"/>
                  <a:pt x="137308" y="1"/>
                  <a:pt x="306686" y="1"/>
                </a:cubicBezTo>
                <a:lnTo>
                  <a:pt x="1782161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DADC2-C124-24F8-970E-9BEF54A1431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54887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653578" cy="1132258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715532"/>
            <a:ext cx="10653579" cy="459382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838433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0624" y="5319551"/>
            <a:ext cx="9916932" cy="786384"/>
          </a:xfrm>
        </p:spPr>
        <p:txBody>
          <a:bodyPr anchor="b">
            <a:normAutofit/>
          </a:bodyPr>
          <a:lstStyle>
            <a:lvl1pPr algn="r">
              <a:defRPr sz="5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64AFBD-23FD-6C5F-2B5B-EFF6936E41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599361"/>
            <a:ext cx="11001375" cy="4114800"/>
          </a:xfrm>
          <a:custGeom>
            <a:avLst/>
            <a:gdLst>
              <a:gd name="connsiteX0" fmla="*/ 0 w 11001375"/>
              <a:gd name="connsiteY0" fmla="*/ 0 h 4114800"/>
              <a:gd name="connsiteX1" fmla="*/ 7194001 w 11001375"/>
              <a:gd name="connsiteY1" fmla="*/ 0 h 4114800"/>
              <a:gd name="connsiteX2" fmla="*/ 7733211 w 11001375"/>
              <a:gd name="connsiteY2" fmla="*/ 0 h 4114800"/>
              <a:gd name="connsiteX3" fmla="*/ 10593937 w 11001375"/>
              <a:gd name="connsiteY3" fmla="*/ 0 h 4114800"/>
              <a:gd name="connsiteX4" fmla="*/ 11001375 w 11001375"/>
              <a:gd name="connsiteY4" fmla="*/ 407438 h 4114800"/>
              <a:gd name="connsiteX5" fmla="*/ 11001375 w 11001375"/>
              <a:gd name="connsiteY5" fmla="*/ 3706852 h 4114800"/>
              <a:gd name="connsiteX6" fmla="*/ 10593937 w 11001375"/>
              <a:gd name="connsiteY6" fmla="*/ 4114290 h 4114800"/>
              <a:gd name="connsiteX7" fmla="*/ 7733211 w 11001375"/>
              <a:gd name="connsiteY7" fmla="*/ 4114290 h 4114800"/>
              <a:gd name="connsiteX8" fmla="*/ 7733211 w 11001375"/>
              <a:gd name="connsiteY8" fmla="*/ 4114800 h 4114800"/>
              <a:gd name="connsiteX9" fmla="*/ 0 w 11001375"/>
              <a:gd name="connsiteY9" fmla="*/ 4114800 h 411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1375" h="4114800">
                <a:moveTo>
                  <a:pt x="0" y="0"/>
                </a:moveTo>
                <a:lnTo>
                  <a:pt x="7194001" y="0"/>
                </a:lnTo>
                <a:lnTo>
                  <a:pt x="7733211" y="0"/>
                </a:lnTo>
                <a:lnTo>
                  <a:pt x="10593937" y="0"/>
                </a:lnTo>
                <a:cubicBezTo>
                  <a:pt x="10818959" y="0"/>
                  <a:pt x="11001375" y="182416"/>
                  <a:pt x="11001375" y="407438"/>
                </a:cubicBezTo>
                <a:lnTo>
                  <a:pt x="11001375" y="3706852"/>
                </a:lnTo>
                <a:cubicBezTo>
                  <a:pt x="11001375" y="3931874"/>
                  <a:pt x="10818959" y="4114290"/>
                  <a:pt x="10593937" y="4114290"/>
                </a:cubicBezTo>
                <a:lnTo>
                  <a:pt x="7733211" y="4114290"/>
                </a:lnTo>
                <a:lnTo>
                  <a:pt x="7733211" y="4114800"/>
                </a:lnTo>
                <a:lnTo>
                  <a:pt x="0" y="41148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FD76F-A613-5199-3B43-F4D09950F8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DADC2-C124-24F8-970E-9BEF54A1431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445364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1826" y="4957555"/>
            <a:ext cx="6858000" cy="1737360"/>
          </a:xfrm>
        </p:spPr>
        <p:txBody>
          <a:bodyPr anchor="t" anchorCtr="0">
            <a:no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0328" y="4957555"/>
            <a:ext cx="3496092" cy="1322653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33E2CF8-F9ED-49BB-7C96-2E9AAC05673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230139" y="629340"/>
            <a:ext cx="10976149" cy="4081805"/>
          </a:xfrm>
          <a:custGeom>
            <a:avLst/>
            <a:gdLst>
              <a:gd name="connsiteX0" fmla="*/ 1782161 w 11002360"/>
              <a:gd name="connsiteY0" fmla="*/ 0 h 4091552"/>
              <a:gd name="connsiteX1" fmla="*/ 11002360 w 11002360"/>
              <a:gd name="connsiteY1" fmla="*/ 0 h 4091552"/>
              <a:gd name="connsiteX2" fmla="*/ 11002360 w 11002360"/>
              <a:gd name="connsiteY2" fmla="*/ 4091552 h 4091552"/>
              <a:gd name="connsiteX3" fmla="*/ 3300114 w 11002360"/>
              <a:gd name="connsiteY3" fmla="*/ 4091552 h 4091552"/>
              <a:gd name="connsiteX4" fmla="*/ 1782161 w 11002360"/>
              <a:gd name="connsiteY4" fmla="*/ 4091552 h 4091552"/>
              <a:gd name="connsiteX5" fmla="*/ 306686 w 11002360"/>
              <a:gd name="connsiteY5" fmla="*/ 4091552 h 4091552"/>
              <a:gd name="connsiteX6" fmla="*/ 0 w 11002360"/>
              <a:gd name="connsiteY6" fmla="*/ 3784866 h 4091552"/>
              <a:gd name="connsiteX7" fmla="*/ 0 w 11002360"/>
              <a:gd name="connsiteY7" fmla="*/ 306687 h 4091552"/>
              <a:gd name="connsiteX8" fmla="*/ 306686 w 11002360"/>
              <a:gd name="connsiteY8" fmla="*/ 1 h 4091552"/>
              <a:gd name="connsiteX9" fmla="*/ 1782161 w 11002360"/>
              <a:gd name="connsiteY9" fmla="*/ 1 h 4091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2360" h="4091552">
                <a:moveTo>
                  <a:pt x="1782161" y="0"/>
                </a:moveTo>
                <a:lnTo>
                  <a:pt x="11002360" y="0"/>
                </a:lnTo>
                <a:lnTo>
                  <a:pt x="11002360" y="4091552"/>
                </a:lnTo>
                <a:lnTo>
                  <a:pt x="3300114" y="4091552"/>
                </a:lnTo>
                <a:lnTo>
                  <a:pt x="1782161" y="4091552"/>
                </a:lnTo>
                <a:lnTo>
                  <a:pt x="306686" y="4091552"/>
                </a:lnTo>
                <a:cubicBezTo>
                  <a:pt x="137308" y="4091552"/>
                  <a:pt x="0" y="3954244"/>
                  <a:pt x="0" y="3784866"/>
                </a:cubicBezTo>
                <a:lnTo>
                  <a:pt x="0" y="306687"/>
                </a:lnTo>
                <a:cubicBezTo>
                  <a:pt x="0" y="137309"/>
                  <a:pt x="137308" y="1"/>
                  <a:pt x="306686" y="1"/>
                </a:cubicBezTo>
                <a:lnTo>
                  <a:pt x="1782161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A644EE-5664-C5E5-F2EA-78570A0BEB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78056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A4B7A6E-A3B8-3D87-4AFC-BB6613DA99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42815"/>
            <a:ext cx="6584942" cy="5972373"/>
          </a:xfrm>
          <a:custGeom>
            <a:avLst/>
            <a:gdLst>
              <a:gd name="connsiteX0" fmla="*/ 0 w 6584942"/>
              <a:gd name="connsiteY0" fmla="*/ 0 h 5972373"/>
              <a:gd name="connsiteX1" fmla="*/ 1717192 w 6584942"/>
              <a:gd name="connsiteY1" fmla="*/ 0 h 5972373"/>
              <a:gd name="connsiteX2" fmla="*/ 3939301 w 6584942"/>
              <a:gd name="connsiteY2" fmla="*/ 0 h 5972373"/>
              <a:gd name="connsiteX3" fmla="*/ 6193330 w 6584942"/>
              <a:gd name="connsiteY3" fmla="*/ 0 h 5972373"/>
              <a:gd name="connsiteX4" fmla="*/ 6584942 w 6584942"/>
              <a:gd name="connsiteY4" fmla="*/ 391612 h 5972373"/>
              <a:gd name="connsiteX5" fmla="*/ 6584942 w 6584942"/>
              <a:gd name="connsiteY5" fmla="*/ 5574602 h 5972373"/>
              <a:gd name="connsiteX6" fmla="*/ 6193330 w 6584942"/>
              <a:gd name="connsiteY6" fmla="*/ 5966214 h 5972373"/>
              <a:gd name="connsiteX7" fmla="*/ 3939301 w 6584942"/>
              <a:gd name="connsiteY7" fmla="*/ 5966214 h 5972373"/>
              <a:gd name="connsiteX8" fmla="*/ 3939301 w 6584942"/>
              <a:gd name="connsiteY8" fmla="*/ 5972373 h 5972373"/>
              <a:gd name="connsiteX9" fmla="*/ 0 w 6584942"/>
              <a:gd name="connsiteY9" fmla="*/ 5972373 h 597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584942" h="5972373">
                <a:moveTo>
                  <a:pt x="0" y="0"/>
                </a:moveTo>
                <a:lnTo>
                  <a:pt x="1717192" y="0"/>
                </a:lnTo>
                <a:lnTo>
                  <a:pt x="3939301" y="0"/>
                </a:lnTo>
                <a:lnTo>
                  <a:pt x="6193330" y="0"/>
                </a:lnTo>
                <a:cubicBezTo>
                  <a:pt x="6409612" y="0"/>
                  <a:pt x="6584942" y="175331"/>
                  <a:pt x="6584942" y="391612"/>
                </a:cubicBezTo>
                <a:lnTo>
                  <a:pt x="6584942" y="5574602"/>
                </a:lnTo>
                <a:cubicBezTo>
                  <a:pt x="6584942" y="5790883"/>
                  <a:pt x="6409612" y="5966214"/>
                  <a:pt x="6193330" y="5966214"/>
                </a:cubicBezTo>
                <a:lnTo>
                  <a:pt x="3939301" y="5966214"/>
                </a:lnTo>
                <a:lnTo>
                  <a:pt x="3939301" y="5972373"/>
                </a:lnTo>
                <a:lnTo>
                  <a:pt x="0" y="597237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50948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CECE93-F2F0-9BF0-BC06-17F4FCB720A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997845" y="13796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39B692-E2F6-F6FD-1494-9FB37EAB322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2621647" y="6368780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C0B933-AE26-DF32-E480-926E7D262A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07052" y="442815"/>
            <a:ext cx="6584949" cy="5972373"/>
          </a:xfrm>
          <a:custGeom>
            <a:avLst/>
            <a:gdLst>
              <a:gd name="connsiteX0" fmla="*/ 391612 w 6584949"/>
              <a:gd name="connsiteY0" fmla="*/ 0 h 5972373"/>
              <a:gd name="connsiteX1" fmla="*/ 2645641 w 6584949"/>
              <a:gd name="connsiteY1" fmla="*/ 0 h 5972373"/>
              <a:gd name="connsiteX2" fmla="*/ 4867750 w 6584949"/>
              <a:gd name="connsiteY2" fmla="*/ 0 h 5972373"/>
              <a:gd name="connsiteX3" fmla="*/ 6584949 w 6584949"/>
              <a:gd name="connsiteY3" fmla="*/ 0 h 5972373"/>
              <a:gd name="connsiteX4" fmla="*/ 6584949 w 6584949"/>
              <a:gd name="connsiteY4" fmla="*/ 5972373 h 5972373"/>
              <a:gd name="connsiteX5" fmla="*/ 2645641 w 6584949"/>
              <a:gd name="connsiteY5" fmla="*/ 5972373 h 5972373"/>
              <a:gd name="connsiteX6" fmla="*/ 2645641 w 6584949"/>
              <a:gd name="connsiteY6" fmla="*/ 5966214 h 5972373"/>
              <a:gd name="connsiteX7" fmla="*/ 391612 w 6584949"/>
              <a:gd name="connsiteY7" fmla="*/ 5966214 h 5972373"/>
              <a:gd name="connsiteX8" fmla="*/ 0 w 6584949"/>
              <a:gd name="connsiteY8" fmla="*/ 5574602 h 5972373"/>
              <a:gd name="connsiteX9" fmla="*/ 0 w 6584949"/>
              <a:gd name="connsiteY9" fmla="*/ 391612 h 5972373"/>
              <a:gd name="connsiteX10" fmla="*/ 391612 w 6584949"/>
              <a:gd name="connsiteY10" fmla="*/ 0 h 597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584949" h="5972373">
                <a:moveTo>
                  <a:pt x="391612" y="0"/>
                </a:moveTo>
                <a:lnTo>
                  <a:pt x="2645641" y="0"/>
                </a:lnTo>
                <a:lnTo>
                  <a:pt x="4867750" y="0"/>
                </a:lnTo>
                <a:lnTo>
                  <a:pt x="6584949" y="0"/>
                </a:lnTo>
                <a:lnTo>
                  <a:pt x="6584949" y="5972373"/>
                </a:lnTo>
                <a:lnTo>
                  <a:pt x="2645641" y="5972373"/>
                </a:lnTo>
                <a:lnTo>
                  <a:pt x="2645641" y="5966214"/>
                </a:lnTo>
                <a:lnTo>
                  <a:pt x="391612" y="5966214"/>
                </a:lnTo>
                <a:cubicBezTo>
                  <a:pt x="175331" y="5966214"/>
                  <a:pt x="0" y="5790883"/>
                  <a:pt x="0" y="5574602"/>
                </a:cubicBezTo>
                <a:lnTo>
                  <a:pt x="0" y="391612"/>
                </a:lnTo>
                <a:cubicBezTo>
                  <a:pt x="0" y="175331"/>
                  <a:pt x="175331" y="0"/>
                  <a:pt x="39161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998005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29817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05626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Autofit/>
          </a:bodyPr>
          <a:lstStyle>
            <a:lvl1pPr algn="ctr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8103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 anchor="b">
            <a:normAutofit/>
          </a:bodyPr>
          <a:lstStyle>
            <a:lvl1pPr algn="l">
              <a:defRPr sz="7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225390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3338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600"/>
            </a:lvl3pPr>
            <a:lvl4pPr marL="685800" indent="0">
              <a:buFont typeface="+mj-lt"/>
              <a:buNone/>
              <a:defRPr sz="16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565994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320" y="916491"/>
            <a:ext cx="4663440" cy="1554480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E076F7-0A56-00B7-5636-53BCD84F3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75" y="1"/>
            <a:ext cx="3776472" cy="6220147"/>
          </a:xfrm>
          <a:custGeom>
            <a:avLst/>
            <a:gdLst>
              <a:gd name="connsiteX0" fmla="*/ 0 w 3776472"/>
              <a:gd name="connsiteY0" fmla="*/ 0 h 6220147"/>
              <a:gd name="connsiteX1" fmla="*/ 3776472 w 3776472"/>
              <a:gd name="connsiteY1" fmla="*/ 0 h 6220147"/>
              <a:gd name="connsiteX2" fmla="*/ 3776472 w 3776472"/>
              <a:gd name="connsiteY2" fmla="*/ 4143022 h 6220147"/>
              <a:gd name="connsiteX3" fmla="*/ 3774316 w 3776472"/>
              <a:gd name="connsiteY3" fmla="*/ 4143022 h 6220147"/>
              <a:gd name="connsiteX4" fmla="*/ 3774316 w 3776472"/>
              <a:gd name="connsiteY4" fmla="*/ 5899400 h 6220147"/>
              <a:gd name="connsiteX5" fmla="*/ 3453569 w 3776472"/>
              <a:gd name="connsiteY5" fmla="*/ 6220147 h 6220147"/>
              <a:gd name="connsiteX6" fmla="*/ 322904 w 3776472"/>
              <a:gd name="connsiteY6" fmla="*/ 6220147 h 6220147"/>
              <a:gd name="connsiteX7" fmla="*/ 2157 w 3776472"/>
              <a:gd name="connsiteY7" fmla="*/ 5899400 h 6220147"/>
              <a:gd name="connsiteX8" fmla="*/ 2157 w 3776472"/>
              <a:gd name="connsiteY8" fmla="*/ 4143022 h 6220147"/>
              <a:gd name="connsiteX9" fmla="*/ 0 w 3776472"/>
              <a:gd name="connsiteY9" fmla="*/ 4143022 h 62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776472" h="6220147">
                <a:moveTo>
                  <a:pt x="0" y="0"/>
                </a:moveTo>
                <a:lnTo>
                  <a:pt x="3776472" y="0"/>
                </a:lnTo>
                <a:lnTo>
                  <a:pt x="3776472" y="4143022"/>
                </a:lnTo>
                <a:lnTo>
                  <a:pt x="3774316" y="4143022"/>
                </a:lnTo>
                <a:lnTo>
                  <a:pt x="3774316" y="5899400"/>
                </a:lnTo>
                <a:cubicBezTo>
                  <a:pt x="3774316" y="6076544"/>
                  <a:pt x="3630713" y="6220147"/>
                  <a:pt x="3453569" y="6220147"/>
                </a:cubicBezTo>
                <a:lnTo>
                  <a:pt x="322904" y="6220147"/>
                </a:lnTo>
                <a:cubicBezTo>
                  <a:pt x="145760" y="6220147"/>
                  <a:pt x="2157" y="6076544"/>
                  <a:pt x="2157" y="5899400"/>
                </a:cubicBezTo>
                <a:lnTo>
                  <a:pt x="2157" y="4143022"/>
                </a:lnTo>
                <a:lnTo>
                  <a:pt x="0" y="414302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6320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6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265110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20" y="820882"/>
            <a:ext cx="6813300" cy="2103254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415547F-4F84-3067-76DF-196AFC6115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75" y="1"/>
            <a:ext cx="3776472" cy="6220147"/>
          </a:xfrm>
          <a:custGeom>
            <a:avLst/>
            <a:gdLst>
              <a:gd name="connsiteX0" fmla="*/ 0 w 3776472"/>
              <a:gd name="connsiteY0" fmla="*/ 0 h 6220147"/>
              <a:gd name="connsiteX1" fmla="*/ 3776472 w 3776472"/>
              <a:gd name="connsiteY1" fmla="*/ 0 h 6220147"/>
              <a:gd name="connsiteX2" fmla="*/ 3776472 w 3776472"/>
              <a:gd name="connsiteY2" fmla="*/ 4143022 h 6220147"/>
              <a:gd name="connsiteX3" fmla="*/ 3774316 w 3776472"/>
              <a:gd name="connsiteY3" fmla="*/ 4143022 h 6220147"/>
              <a:gd name="connsiteX4" fmla="*/ 3774316 w 3776472"/>
              <a:gd name="connsiteY4" fmla="*/ 5899400 h 6220147"/>
              <a:gd name="connsiteX5" fmla="*/ 3453569 w 3776472"/>
              <a:gd name="connsiteY5" fmla="*/ 6220147 h 6220147"/>
              <a:gd name="connsiteX6" fmla="*/ 322904 w 3776472"/>
              <a:gd name="connsiteY6" fmla="*/ 6220147 h 6220147"/>
              <a:gd name="connsiteX7" fmla="*/ 2157 w 3776472"/>
              <a:gd name="connsiteY7" fmla="*/ 5899400 h 6220147"/>
              <a:gd name="connsiteX8" fmla="*/ 2157 w 3776472"/>
              <a:gd name="connsiteY8" fmla="*/ 4143022 h 6220147"/>
              <a:gd name="connsiteX9" fmla="*/ 0 w 3776472"/>
              <a:gd name="connsiteY9" fmla="*/ 4143022 h 62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776472" h="6220147">
                <a:moveTo>
                  <a:pt x="0" y="0"/>
                </a:moveTo>
                <a:lnTo>
                  <a:pt x="3776472" y="0"/>
                </a:lnTo>
                <a:lnTo>
                  <a:pt x="3776472" y="4143022"/>
                </a:lnTo>
                <a:lnTo>
                  <a:pt x="3774316" y="4143022"/>
                </a:lnTo>
                <a:lnTo>
                  <a:pt x="3774316" y="5899400"/>
                </a:lnTo>
                <a:cubicBezTo>
                  <a:pt x="3774316" y="6076544"/>
                  <a:pt x="3630713" y="6220147"/>
                  <a:pt x="3453569" y="6220147"/>
                </a:cubicBezTo>
                <a:lnTo>
                  <a:pt x="322904" y="6220147"/>
                </a:lnTo>
                <a:cubicBezTo>
                  <a:pt x="145760" y="6220147"/>
                  <a:pt x="2157" y="6076544"/>
                  <a:pt x="2157" y="5899400"/>
                </a:cubicBezTo>
                <a:lnTo>
                  <a:pt x="2157" y="4143022"/>
                </a:lnTo>
                <a:lnTo>
                  <a:pt x="0" y="414302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3121" y="3273552"/>
            <a:ext cx="6813300" cy="2947091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 typeface="+mj-lt"/>
              <a:buNone/>
              <a:defRPr sz="2000"/>
            </a:lvl1pPr>
            <a:lvl2pPr marL="228600" indent="0">
              <a:lnSpc>
                <a:spcPct val="140000"/>
              </a:lnSpc>
              <a:buFont typeface="+mj-lt"/>
              <a:buNone/>
              <a:defRPr sz="1800"/>
            </a:lvl2pPr>
            <a:lvl3pPr marL="457200" indent="0">
              <a:lnSpc>
                <a:spcPct val="140000"/>
              </a:lnSpc>
              <a:buFont typeface="+mj-lt"/>
              <a:buNone/>
              <a:defRPr sz="1600"/>
            </a:lvl3pPr>
            <a:lvl4pPr marL="685800" indent="0">
              <a:lnSpc>
                <a:spcPct val="140000"/>
              </a:lnSpc>
              <a:buFont typeface="+mj-lt"/>
              <a:buNone/>
              <a:defRPr sz="1400"/>
            </a:lvl4pPr>
            <a:lvl5pPr marL="914400" indent="0">
              <a:lnSpc>
                <a:spcPct val="140000"/>
              </a:lnSpc>
              <a:buFont typeface="+mj-lt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030803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90702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5811059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825919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689317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379059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E08F2FE-F5E8-682E-4959-E4BD55372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8640" y="2"/>
            <a:ext cx="4169664" cy="6210485"/>
          </a:xfrm>
          <a:custGeom>
            <a:avLst/>
            <a:gdLst>
              <a:gd name="connsiteX0" fmla="*/ 0 w 4169664"/>
              <a:gd name="connsiteY0" fmla="*/ 0 h 6210485"/>
              <a:gd name="connsiteX1" fmla="*/ 4169664 w 4169664"/>
              <a:gd name="connsiteY1" fmla="*/ 0 h 6210485"/>
              <a:gd name="connsiteX2" fmla="*/ 4169664 w 4169664"/>
              <a:gd name="connsiteY2" fmla="*/ 4923691 h 6210485"/>
              <a:gd name="connsiteX3" fmla="*/ 4168046 w 4169664"/>
              <a:gd name="connsiteY3" fmla="*/ 4923691 h 6210485"/>
              <a:gd name="connsiteX4" fmla="*/ 4168046 w 4169664"/>
              <a:gd name="connsiteY4" fmla="*/ 5856214 h 6210485"/>
              <a:gd name="connsiteX5" fmla="*/ 3813775 w 4169664"/>
              <a:gd name="connsiteY5" fmla="*/ 6210485 h 6210485"/>
              <a:gd name="connsiteX6" fmla="*/ 355889 w 4169664"/>
              <a:gd name="connsiteY6" fmla="*/ 6210485 h 6210485"/>
              <a:gd name="connsiteX7" fmla="*/ 1618 w 4169664"/>
              <a:gd name="connsiteY7" fmla="*/ 5856214 h 6210485"/>
              <a:gd name="connsiteX8" fmla="*/ 1618 w 4169664"/>
              <a:gd name="connsiteY8" fmla="*/ 4923691 h 6210485"/>
              <a:gd name="connsiteX9" fmla="*/ 0 w 4169664"/>
              <a:gd name="connsiteY9" fmla="*/ 4923691 h 6210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9664" h="6210485">
                <a:moveTo>
                  <a:pt x="0" y="0"/>
                </a:moveTo>
                <a:lnTo>
                  <a:pt x="4169664" y="0"/>
                </a:lnTo>
                <a:lnTo>
                  <a:pt x="4169664" y="4923691"/>
                </a:lnTo>
                <a:lnTo>
                  <a:pt x="4168046" y="4923691"/>
                </a:lnTo>
                <a:lnTo>
                  <a:pt x="4168046" y="5856214"/>
                </a:lnTo>
                <a:cubicBezTo>
                  <a:pt x="4168046" y="6051872"/>
                  <a:pt x="4009433" y="6210485"/>
                  <a:pt x="3813775" y="6210485"/>
                </a:cubicBezTo>
                <a:lnTo>
                  <a:pt x="355889" y="6210485"/>
                </a:lnTo>
                <a:cubicBezTo>
                  <a:pt x="160231" y="6210485"/>
                  <a:pt x="1618" y="6051872"/>
                  <a:pt x="1618" y="5856214"/>
                </a:cubicBezTo>
                <a:lnTo>
                  <a:pt x="1618" y="4923691"/>
                </a:lnTo>
                <a:lnTo>
                  <a:pt x="0" y="49236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008177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828800"/>
            <a:ext cx="6135624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28905F0-5F49-679C-FEE0-AFCB409086F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59078" y="1"/>
            <a:ext cx="4178772" cy="6210487"/>
          </a:xfrm>
          <a:custGeom>
            <a:avLst/>
            <a:gdLst>
              <a:gd name="connsiteX0" fmla="*/ 9108 w 4178772"/>
              <a:gd name="connsiteY0" fmla="*/ 0 h 6210487"/>
              <a:gd name="connsiteX1" fmla="*/ 4178772 w 4178772"/>
              <a:gd name="connsiteY1" fmla="*/ 0 h 6210487"/>
              <a:gd name="connsiteX2" fmla="*/ 4178772 w 4178772"/>
              <a:gd name="connsiteY2" fmla="*/ 3429000 h 6210487"/>
              <a:gd name="connsiteX3" fmla="*/ 4166428 w 4178772"/>
              <a:gd name="connsiteY3" fmla="*/ 3429000 h 6210487"/>
              <a:gd name="connsiteX4" fmla="*/ 4166428 w 4178772"/>
              <a:gd name="connsiteY4" fmla="*/ 5856216 h 6210487"/>
              <a:gd name="connsiteX5" fmla="*/ 3812157 w 4178772"/>
              <a:gd name="connsiteY5" fmla="*/ 6210487 h 6210487"/>
              <a:gd name="connsiteX6" fmla="*/ 354271 w 4178772"/>
              <a:gd name="connsiteY6" fmla="*/ 6210487 h 6210487"/>
              <a:gd name="connsiteX7" fmla="*/ 0 w 4178772"/>
              <a:gd name="connsiteY7" fmla="*/ 5856216 h 6210487"/>
              <a:gd name="connsiteX8" fmla="*/ 0 w 4178772"/>
              <a:gd name="connsiteY8" fmla="*/ 1838365 h 6210487"/>
              <a:gd name="connsiteX9" fmla="*/ 7198 w 4178772"/>
              <a:gd name="connsiteY9" fmla="*/ 1766967 h 6210487"/>
              <a:gd name="connsiteX10" fmla="*/ 9108 w 4178772"/>
              <a:gd name="connsiteY10" fmla="*/ 1760813 h 6210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78772" h="6210487">
                <a:moveTo>
                  <a:pt x="9108" y="0"/>
                </a:moveTo>
                <a:lnTo>
                  <a:pt x="4178772" y="0"/>
                </a:lnTo>
                <a:lnTo>
                  <a:pt x="4178772" y="3429000"/>
                </a:lnTo>
                <a:lnTo>
                  <a:pt x="4166428" y="3429000"/>
                </a:lnTo>
                <a:lnTo>
                  <a:pt x="4166428" y="5856216"/>
                </a:lnTo>
                <a:cubicBezTo>
                  <a:pt x="4166428" y="6051874"/>
                  <a:pt x="4007815" y="6210487"/>
                  <a:pt x="3812157" y="6210487"/>
                </a:cubicBezTo>
                <a:lnTo>
                  <a:pt x="354271" y="6210487"/>
                </a:lnTo>
                <a:cubicBezTo>
                  <a:pt x="158613" y="6210487"/>
                  <a:pt x="0" y="6051874"/>
                  <a:pt x="0" y="5856216"/>
                </a:cubicBezTo>
                <a:lnTo>
                  <a:pt x="0" y="1838365"/>
                </a:lnTo>
                <a:cubicBezTo>
                  <a:pt x="0" y="1813908"/>
                  <a:pt x="2478" y="1790029"/>
                  <a:pt x="7198" y="1766967"/>
                </a:cubicBezTo>
                <a:lnTo>
                  <a:pt x="9108" y="176081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D9A45-1B72-756B-7137-E9617E56D9C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3532" y="137965"/>
            <a:ext cx="429207" cy="365125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0FB5F2-FE27-6AC5-6D6E-BC32C6474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77334" y="6368780"/>
            <a:ext cx="2805405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2332195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049159F-9012-DB0A-4C8B-E8072AB0E2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1"/>
            <a:ext cx="4023360" cy="6210486"/>
          </a:xfrm>
          <a:custGeom>
            <a:avLst/>
            <a:gdLst>
              <a:gd name="connsiteX0" fmla="*/ 8769 w 4023360"/>
              <a:gd name="connsiteY0" fmla="*/ 0 h 6210486"/>
              <a:gd name="connsiteX1" fmla="*/ 4023360 w 4023360"/>
              <a:gd name="connsiteY1" fmla="*/ 0 h 6210486"/>
              <a:gd name="connsiteX2" fmla="*/ 4023360 w 4023360"/>
              <a:gd name="connsiteY2" fmla="*/ 3428999 h 6210486"/>
              <a:gd name="connsiteX3" fmla="*/ 4011475 w 4023360"/>
              <a:gd name="connsiteY3" fmla="*/ 3428999 h 6210486"/>
              <a:gd name="connsiteX4" fmla="*/ 4011475 w 4023360"/>
              <a:gd name="connsiteY4" fmla="*/ 5856215 h 6210486"/>
              <a:gd name="connsiteX5" fmla="*/ 3670380 w 4023360"/>
              <a:gd name="connsiteY5" fmla="*/ 6210486 h 6210486"/>
              <a:gd name="connsiteX6" fmla="*/ 341095 w 4023360"/>
              <a:gd name="connsiteY6" fmla="*/ 6210486 h 6210486"/>
              <a:gd name="connsiteX7" fmla="*/ 0 w 4023360"/>
              <a:gd name="connsiteY7" fmla="*/ 5856215 h 6210486"/>
              <a:gd name="connsiteX8" fmla="*/ 0 w 4023360"/>
              <a:gd name="connsiteY8" fmla="*/ 1838364 h 6210486"/>
              <a:gd name="connsiteX9" fmla="*/ 6930 w 4023360"/>
              <a:gd name="connsiteY9" fmla="*/ 1766966 h 6210486"/>
              <a:gd name="connsiteX10" fmla="*/ 8769 w 4023360"/>
              <a:gd name="connsiteY10" fmla="*/ 1760812 h 621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23360" h="6210486">
                <a:moveTo>
                  <a:pt x="8769" y="0"/>
                </a:moveTo>
                <a:lnTo>
                  <a:pt x="4023360" y="0"/>
                </a:lnTo>
                <a:lnTo>
                  <a:pt x="4023360" y="3428999"/>
                </a:lnTo>
                <a:lnTo>
                  <a:pt x="4011475" y="3428999"/>
                </a:lnTo>
                <a:lnTo>
                  <a:pt x="4011475" y="5856215"/>
                </a:lnTo>
                <a:cubicBezTo>
                  <a:pt x="4011475" y="6051873"/>
                  <a:pt x="3858761" y="6210486"/>
                  <a:pt x="3670380" y="6210486"/>
                </a:cubicBezTo>
                <a:lnTo>
                  <a:pt x="341095" y="6210486"/>
                </a:lnTo>
                <a:cubicBezTo>
                  <a:pt x="152714" y="6210486"/>
                  <a:pt x="0" y="6051873"/>
                  <a:pt x="0" y="5856215"/>
                </a:cubicBezTo>
                <a:lnTo>
                  <a:pt x="0" y="1838364"/>
                </a:lnTo>
                <a:cubicBezTo>
                  <a:pt x="0" y="1813907"/>
                  <a:pt x="2386" y="1790028"/>
                  <a:pt x="6930" y="1766966"/>
                </a:cubicBezTo>
                <a:lnTo>
                  <a:pt x="8769" y="176081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0" y="1380744"/>
            <a:ext cx="6858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9940228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3"/>
            <a:ext cx="6796553" cy="1468815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22C7FA0-DB8C-0637-DDE8-BFD794CE7D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5580" y="647514"/>
            <a:ext cx="3749041" cy="6210487"/>
          </a:xfrm>
          <a:custGeom>
            <a:avLst/>
            <a:gdLst>
              <a:gd name="connsiteX0" fmla="*/ 350566 w 3749041"/>
              <a:gd name="connsiteY0" fmla="*/ 0 h 6210487"/>
              <a:gd name="connsiteX1" fmla="*/ 3398475 w 3749041"/>
              <a:gd name="connsiteY1" fmla="*/ 0 h 6210487"/>
              <a:gd name="connsiteX2" fmla="*/ 3749041 w 3749041"/>
              <a:gd name="connsiteY2" fmla="*/ 350566 h 6210487"/>
              <a:gd name="connsiteX3" fmla="*/ 3749041 w 3749041"/>
              <a:gd name="connsiteY3" fmla="*/ 1468815 h 6210487"/>
              <a:gd name="connsiteX4" fmla="*/ 3749041 w 3749041"/>
              <a:gd name="connsiteY4" fmla="*/ 2676774 h 6210487"/>
              <a:gd name="connsiteX5" fmla="*/ 3749041 w 3749041"/>
              <a:gd name="connsiteY5" fmla="*/ 6210487 h 6210487"/>
              <a:gd name="connsiteX6" fmla="*/ 2320499 w 3749041"/>
              <a:gd name="connsiteY6" fmla="*/ 6210487 h 6210487"/>
              <a:gd name="connsiteX7" fmla="*/ 2320499 w 3749041"/>
              <a:gd name="connsiteY7" fmla="*/ 6203839 h 6210487"/>
              <a:gd name="connsiteX8" fmla="*/ 0 w 3749041"/>
              <a:gd name="connsiteY8" fmla="*/ 6203839 h 6210487"/>
              <a:gd name="connsiteX9" fmla="*/ 0 w 3749041"/>
              <a:gd name="connsiteY9" fmla="*/ 2676774 h 6210487"/>
              <a:gd name="connsiteX10" fmla="*/ 0 w 3749041"/>
              <a:gd name="connsiteY10" fmla="*/ 1468815 h 6210487"/>
              <a:gd name="connsiteX11" fmla="*/ 0 w 3749041"/>
              <a:gd name="connsiteY11" fmla="*/ 350566 h 6210487"/>
              <a:gd name="connsiteX12" fmla="*/ 350566 w 3749041"/>
              <a:gd name="connsiteY12" fmla="*/ 0 h 6210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749041" h="6210487">
                <a:moveTo>
                  <a:pt x="350566" y="0"/>
                </a:moveTo>
                <a:lnTo>
                  <a:pt x="3398475" y="0"/>
                </a:lnTo>
                <a:cubicBezTo>
                  <a:pt x="3592087" y="0"/>
                  <a:pt x="3749041" y="156954"/>
                  <a:pt x="3749041" y="350566"/>
                </a:cubicBezTo>
                <a:lnTo>
                  <a:pt x="3749041" y="1468815"/>
                </a:lnTo>
                <a:lnTo>
                  <a:pt x="3749041" y="2676774"/>
                </a:lnTo>
                <a:lnTo>
                  <a:pt x="3749041" y="6210487"/>
                </a:lnTo>
                <a:lnTo>
                  <a:pt x="2320499" y="6210487"/>
                </a:lnTo>
                <a:lnTo>
                  <a:pt x="2320499" y="6203839"/>
                </a:lnTo>
                <a:lnTo>
                  <a:pt x="0" y="6203839"/>
                </a:lnTo>
                <a:lnTo>
                  <a:pt x="0" y="2676774"/>
                </a:lnTo>
                <a:lnTo>
                  <a:pt x="0" y="1468815"/>
                </a:lnTo>
                <a:lnTo>
                  <a:pt x="0" y="350566"/>
                </a:lnTo>
                <a:cubicBezTo>
                  <a:pt x="0" y="156954"/>
                  <a:pt x="156954" y="0"/>
                  <a:pt x="35056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2472266"/>
            <a:ext cx="6796553" cy="38919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5938795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380744"/>
            <a:ext cx="6858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9BDD84-33CF-CB5D-E189-57F1AFC16A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818120" y="1"/>
            <a:ext cx="4023360" cy="6210486"/>
          </a:xfrm>
          <a:custGeom>
            <a:avLst/>
            <a:gdLst>
              <a:gd name="connsiteX0" fmla="*/ 8769 w 4023360"/>
              <a:gd name="connsiteY0" fmla="*/ 0 h 6210486"/>
              <a:gd name="connsiteX1" fmla="*/ 4023360 w 4023360"/>
              <a:gd name="connsiteY1" fmla="*/ 0 h 6210486"/>
              <a:gd name="connsiteX2" fmla="*/ 4023360 w 4023360"/>
              <a:gd name="connsiteY2" fmla="*/ 3428999 h 6210486"/>
              <a:gd name="connsiteX3" fmla="*/ 4011475 w 4023360"/>
              <a:gd name="connsiteY3" fmla="*/ 3428999 h 6210486"/>
              <a:gd name="connsiteX4" fmla="*/ 4011475 w 4023360"/>
              <a:gd name="connsiteY4" fmla="*/ 5856215 h 6210486"/>
              <a:gd name="connsiteX5" fmla="*/ 3670380 w 4023360"/>
              <a:gd name="connsiteY5" fmla="*/ 6210486 h 6210486"/>
              <a:gd name="connsiteX6" fmla="*/ 341095 w 4023360"/>
              <a:gd name="connsiteY6" fmla="*/ 6210486 h 6210486"/>
              <a:gd name="connsiteX7" fmla="*/ 0 w 4023360"/>
              <a:gd name="connsiteY7" fmla="*/ 5856215 h 6210486"/>
              <a:gd name="connsiteX8" fmla="*/ 0 w 4023360"/>
              <a:gd name="connsiteY8" fmla="*/ 1838364 h 6210486"/>
              <a:gd name="connsiteX9" fmla="*/ 6930 w 4023360"/>
              <a:gd name="connsiteY9" fmla="*/ 1766966 h 6210486"/>
              <a:gd name="connsiteX10" fmla="*/ 8769 w 4023360"/>
              <a:gd name="connsiteY10" fmla="*/ 1760812 h 621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23360" h="6210486">
                <a:moveTo>
                  <a:pt x="8769" y="0"/>
                </a:moveTo>
                <a:lnTo>
                  <a:pt x="4023360" y="0"/>
                </a:lnTo>
                <a:lnTo>
                  <a:pt x="4023360" y="3428999"/>
                </a:lnTo>
                <a:lnTo>
                  <a:pt x="4011475" y="3428999"/>
                </a:lnTo>
                <a:lnTo>
                  <a:pt x="4011475" y="5856215"/>
                </a:lnTo>
                <a:cubicBezTo>
                  <a:pt x="4011475" y="6051873"/>
                  <a:pt x="3858761" y="6210486"/>
                  <a:pt x="3670380" y="6210486"/>
                </a:cubicBezTo>
                <a:lnTo>
                  <a:pt x="341095" y="6210486"/>
                </a:lnTo>
                <a:cubicBezTo>
                  <a:pt x="152714" y="6210486"/>
                  <a:pt x="0" y="6051873"/>
                  <a:pt x="0" y="5856215"/>
                </a:cubicBezTo>
                <a:lnTo>
                  <a:pt x="0" y="1838364"/>
                </a:lnTo>
                <a:cubicBezTo>
                  <a:pt x="0" y="1813907"/>
                  <a:pt x="2386" y="1790028"/>
                  <a:pt x="6930" y="1766966"/>
                </a:cubicBezTo>
                <a:lnTo>
                  <a:pt x="8769" y="176081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30264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F74ED1-55A2-A3E2-BC4A-6AD0936F24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44978"/>
            <a:ext cx="6611508" cy="5968047"/>
          </a:xfrm>
          <a:custGeom>
            <a:avLst/>
            <a:gdLst>
              <a:gd name="connsiteX0" fmla="*/ 0 w 6611508"/>
              <a:gd name="connsiteY0" fmla="*/ 0 h 5968047"/>
              <a:gd name="connsiteX1" fmla="*/ 1579959 w 6611508"/>
              <a:gd name="connsiteY1" fmla="*/ 0 h 5968047"/>
              <a:gd name="connsiteX2" fmla="*/ 4390752 w 6611508"/>
              <a:gd name="connsiteY2" fmla="*/ 0 h 5968047"/>
              <a:gd name="connsiteX3" fmla="*/ 6293021 w 6611508"/>
              <a:gd name="connsiteY3" fmla="*/ 0 h 5968047"/>
              <a:gd name="connsiteX4" fmla="*/ 6611508 w 6611508"/>
              <a:gd name="connsiteY4" fmla="*/ 318488 h 5968047"/>
              <a:gd name="connsiteX5" fmla="*/ 6611508 w 6611508"/>
              <a:gd name="connsiteY5" fmla="*/ 5649560 h 5968047"/>
              <a:gd name="connsiteX6" fmla="*/ 6293021 w 6611508"/>
              <a:gd name="connsiteY6" fmla="*/ 5968047 h 5968047"/>
              <a:gd name="connsiteX7" fmla="*/ 4390752 w 6611508"/>
              <a:gd name="connsiteY7" fmla="*/ 5968047 h 5968047"/>
              <a:gd name="connsiteX8" fmla="*/ 1579959 w 6611508"/>
              <a:gd name="connsiteY8" fmla="*/ 5968047 h 5968047"/>
              <a:gd name="connsiteX9" fmla="*/ 0 w 6611508"/>
              <a:gd name="connsiteY9" fmla="*/ 5968047 h 596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611508" h="5968047">
                <a:moveTo>
                  <a:pt x="0" y="0"/>
                </a:moveTo>
                <a:lnTo>
                  <a:pt x="1579959" y="0"/>
                </a:lnTo>
                <a:lnTo>
                  <a:pt x="4390752" y="0"/>
                </a:lnTo>
                <a:lnTo>
                  <a:pt x="6293021" y="0"/>
                </a:lnTo>
                <a:cubicBezTo>
                  <a:pt x="6468916" y="0"/>
                  <a:pt x="6611508" y="142592"/>
                  <a:pt x="6611508" y="318488"/>
                </a:cubicBezTo>
                <a:lnTo>
                  <a:pt x="6611508" y="5649560"/>
                </a:lnTo>
                <a:cubicBezTo>
                  <a:pt x="6611508" y="5825455"/>
                  <a:pt x="6468916" y="5968047"/>
                  <a:pt x="6293021" y="5968047"/>
                </a:cubicBezTo>
                <a:lnTo>
                  <a:pt x="4390752" y="5968047"/>
                </a:lnTo>
                <a:lnTo>
                  <a:pt x="1579959" y="5968047"/>
                </a:lnTo>
                <a:lnTo>
                  <a:pt x="0" y="596804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2424649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4361688" cy="1527048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2194560"/>
            <a:ext cx="4360863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10D416-51D0-8D73-051A-85B7B2B286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28440" y="996696"/>
            <a:ext cx="5363561" cy="4864608"/>
          </a:xfrm>
          <a:custGeom>
            <a:avLst/>
            <a:gdLst>
              <a:gd name="connsiteX0" fmla="*/ 318975 w 5363561"/>
              <a:gd name="connsiteY0" fmla="*/ 0 h 4864608"/>
              <a:gd name="connsiteX1" fmla="*/ 2154923 w 5363561"/>
              <a:gd name="connsiteY1" fmla="*/ 0 h 4864608"/>
              <a:gd name="connsiteX2" fmla="*/ 3964871 w 5363561"/>
              <a:gd name="connsiteY2" fmla="*/ 0 h 4864608"/>
              <a:gd name="connsiteX3" fmla="*/ 5363561 w 5363561"/>
              <a:gd name="connsiteY3" fmla="*/ 0 h 4864608"/>
              <a:gd name="connsiteX4" fmla="*/ 5363561 w 5363561"/>
              <a:gd name="connsiteY4" fmla="*/ 4864608 h 4864608"/>
              <a:gd name="connsiteX5" fmla="*/ 2154923 w 5363561"/>
              <a:gd name="connsiteY5" fmla="*/ 4864608 h 4864608"/>
              <a:gd name="connsiteX6" fmla="*/ 2154923 w 5363561"/>
              <a:gd name="connsiteY6" fmla="*/ 4859591 h 4864608"/>
              <a:gd name="connsiteX7" fmla="*/ 318975 w 5363561"/>
              <a:gd name="connsiteY7" fmla="*/ 4859591 h 4864608"/>
              <a:gd name="connsiteX8" fmla="*/ 0 w 5363561"/>
              <a:gd name="connsiteY8" fmla="*/ 4540616 h 4864608"/>
              <a:gd name="connsiteX9" fmla="*/ 0 w 5363561"/>
              <a:gd name="connsiteY9" fmla="*/ 318975 h 4864608"/>
              <a:gd name="connsiteX10" fmla="*/ 318975 w 5363561"/>
              <a:gd name="connsiteY10" fmla="*/ 0 h 4864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363561" h="4864608">
                <a:moveTo>
                  <a:pt x="318975" y="0"/>
                </a:moveTo>
                <a:lnTo>
                  <a:pt x="2154923" y="0"/>
                </a:lnTo>
                <a:lnTo>
                  <a:pt x="3964871" y="0"/>
                </a:lnTo>
                <a:lnTo>
                  <a:pt x="5363561" y="0"/>
                </a:lnTo>
                <a:lnTo>
                  <a:pt x="5363561" y="4864608"/>
                </a:lnTo>
                <a:lnTo>
                  <a:pt x="2154923" y="4864608"/>
                </a:lnTo>
                <a:lnTo>
                  <a:pt x="2154923" y="4859591"/>
                </a:lnTo>
                <a:lnTo>
                  <a:pt x="318975" y="4859591"/>
                </a:lnTo>
                <a:cubicBezTo>
                  <a:pt x="142810" y="4859591"/>
                  <a:pt x="0" y="4716781"/>
                  <a:pt x="0" y="4540616"/>
                </a:cubicBezTo>
                <a:lnTo>
                  <a:pt x="0" y="318975"/>
                </a:lnTo>
                <a:cubicBezTo>
                  <a:pt x="0" y="142810"/>
                  <a:pt x="142810" y="0"/>
                  <a:pt x="31897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C2950FE-5880-69E0-6E51-5FEE346A49B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9A96CF5-E431-076C-2AB1-270F11C74DF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1830537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6697"/>
            <a:ext cx="5779081" cy="2264652"/>
          </a:xfrm>
        </p:spPr>
        <p:txBody>
          <a:bodyPr anchor="b" anchorCtr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3538728"/>
            <a:ext cx="5777953" cy="2322575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10D416-51D0-8D73-051A-85B7B2B286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28440" y="996696"/>
            <a:ext cx="5363561" cy="4864608"/>
          </a:xfrm>
          <a:custGeom>
            <a:avLst/>
            <a:gdLst>
              <a:gd name="connsiteX0" fmla="*/ 318975 w 5363561"/>
              <a:gd name="connsiteY0" fmla="*/ 0 h 4864608"/>
              <a:gd name="connsiteX1" fmla="*/ 2154923 w 5363561"/>
              <a:gd name="connsiteY1" fmla="*/ 0 h 4864608"/>
              <a:gd name="connsiteX2" fmla="*/ 3964871 w 5363561"/>
              <a:gd name="connsiteY2" fmla="*/ 0 h 4864608"/>
              <a:gd name="connsiteX3" fmla="*/ 5363561 w 5363561"/>
              <a:gd name="connsiteY3" fmla="*/ 0 h 4864608"/>
              <a:gd name="connsiteX4" fmla="*/ 5363561 w 5363561"/>
              <a:gd name="connsiteY4" fmla="*/ 4864608 h 4864608"/>
              <a:gd name="connsiteX5" fmla="*/ 2154923 w 5363561"/>
              <a:gd name="connsiteY5" fmla="*/ 4864608 h 4864608"/>
              <a:gd name="connsiteX6" fmla="*/ 2154923 w 5363561"/>
              <a:gd name="connsiteY6" fmla="*/ 4859591 h 4864608"/>
              <a:gd name="connsiteX7" fmla="*/ 318975 w 5363561"/>
              <a:gd name="connsiteY7" fmla="*/ 4859591 h 4864608"/>
              <a:gd name="connsiteX8" fmla="*/ 0 w 5363561"/>
              <a:gd name="connsiteY8" fmla="*/ 4540616 h 4864608"/>
              <a:gd name="connsiteX9" fmla="*/ 0 w 5363561"/>
              <a:gd name="connsiteY9" fmla="*/ 318975 h 4864608"/>
              <a:gd name="connsiteX10" fmla="*/ 318975 w 5363561"/>
              <a:gd name="connsiteY10" fmla="*/ 0 h 4864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363561" h="4864608">
                <a:moveTo>
                  <a:pt x="318975" y="0"/>
                </a:moveTo>
                <a:lnTo>
                  <a:pt x="2154923" y="0"/>
                </a:lnTo>
                <a:lnTo>
                  <a:pt x="3964871" y="0"/>
                </a:lnTo>
                <a:lnTo>
                  <a:pt x="5363561" y="0"/>
                </a:lnTo>
                <a:lnTo>
                  <a:pt x="5363561" y="4864608"/>
                </a:lnTo>
                <a:lnTo>
                  <a:pt x="2154923" y="4864608"/>
                </a:lnTo>
                <a:lnTo>
                  <a:pt x="2154923" y="4859591"/>
                </a:lnTo>
                <a:lnTo>
                  <a:pt x="318975" y="4859591"/>
                </a:lnTo>
                <a:cubicBezTo>
                  <a:pt x="142810" y="4859591"/>
                  <a:pt x="0" y="4716781"/>
                  <a:pt x="0" y="4540616"/>
                </a:cubicBezTo>
                <a:lnTo>
                  <a:pt x="0" y="318975"/>
                </a:lnTo>
                <a:cubicBezTo>
                  <a:pt x="0" y="142810"/>
                  <a:pt x="142810" y="0"/>
                  <a:pt x="31897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766A3-B508-7646-C366-0A8B2B74F04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39C096-E57C-1958-6BE2-29A089B74A0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998086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8842B10-A221-5366-C461-425DDE7EE0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498809"/>
            <a:ext cx="6492236" cy="5860385"/>
          </a:xfrm>
          <a:custGeom>
            <a:avLst/>
            <a:gdLst>
              <a:gd name="connsiteX0" fmla="*/ 0 w 6492236"/>
              <a:gd name="connsiteY0" fmla="*/ 0 h 5860385"/>
              <a:gd name="connsiteX1" fmla="*/ 1551455 w 6492236"/>
              <a:gd name="connsiteY1" fmla="*/ 0 h 5860385"/>
              <a:gd name="connsiteX2" fmla="*/ 4311542 w 6492236"/>
              <a:gd name="connsiteY2" fmla="*/ 0 h 5860385"/>
              <a:gd name="connsiteX3" fmla="*/ 6179494 w 6492236"/>
              <a:gd name="connsiteY3" fmla="*/ 0 h 5860385"/>
              <a:gd name="connsiteX4" fmla="*/ 6492236 w 6492236"/>
              <a:gd name="connsiteY4" fmla="*/ 312742 h 5860385"/>
              <a:gd name="connsiteX5" fmla="*/ 6492236 w 6492236"/>
              <a:gd name="connsiteY5" fmla="*/ 5547643 h 5860385"/>
              <a:gd name="connsiteX6" fmla="*/ 6179494 w 6492236"/>
              <a:gd name="connsiteY6" fmla="*/ 5860385 h 5860385"/>
              <a:gd name="connsiteX7" fmla="*/ 4311542 w 6492236"/>
              <a:gd name="connsiteY7" fmla="*/ 5860385 h 5860385"/>
              <a:gd name="connsiteX8" fmla="*/ 1551455 w 6492236"/>
              <a:gd name="connsiteY8" fmla="*/ 5860385 h 5860385"/>
              <a:gd name="connsiteX9" fmla="*/ 0 w 6492236"/>
              <a:gd name="connsiteY9" fmla="*/ 5860385 h 586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492236" h="5860385">
                <a:moveTo>
                  <a:pt x="0" y="0"/>
                </a:moveTo>
                <a:lnTo>
                  <a:pt x="1551455" y="0"/>
                </a:lnTo>
                <a:lnTo>
                  <a:pt x="4311542" y="0"/>
                </a:lnTo>
                <a:lnTo>
                  <a:pt x="6179494" y="0"/>
                </a:lnTo>
                <a:cubicBezTo>
                  <a:pt x="6352217" y="0"/>
                  <a:pt x="6492236" y="140020"/>
                  <a:pt x="6492236" y="312742"/>
                </a:cubicBezTo>
                <a:lnTo>
                  <a:pt x="6492236" y="5547643"/>
                </a:lnTo>
                <a:cubicBezTo>
                  <a:pt x="6492236" y="5720366"/>
                  <a:pt x="6352217" y="5860385"/>
                  <a:pt x="6179494" y="5860385"/>
                </a:cubicBezTo>
                <a:lnTo>
                  <a:pt x="4311542" y="5860385"/>
                </a:lnTo>
                <a:lnTo>
                  <a:pt x="1551455" y="5860385"/>
                </a:lnTo>
                <a:lnTo>
                  <a:pt x="0" y="5860385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8577662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78358-FF6F-B176-7099-1A13C4AD2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202933" y="13796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A75D03-F042-C852-E855-C802ABBBA94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826735" y="6368780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A07F02F-15D0-1F8B-17EF-68EDD95305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597182"/>
            <a:ext cx="6274279" cy="5663639"/>
          </a:xfrm>
          <a:custGeom>
            <a:avLst/>
            <a:gdLst>
              <a:gd name="connsiteX0" fmla="*/ 302243 w 6274279"/>
              <a:gd name="connsiteY0" fmla="*/ 0 h 5663639"/>
              <a:gd name="connsiteX1" fmla="*/ 2107483 w 6274279"/>
              <a:gd name="connsiteY1" fmla="*/ 0 h 5663639"/>
              <a:gd name="connsiteX2" fmla="*/ 4774908 w 6274279"/>
              <a:gd name="connsiteY2" fmla="*/ 0 h 5663639"/>
              <a:gd name="connsiteX3" fmla="*/ 6274279 w 6274279"/>
              <a:gd name="connsiteY3" fmla="*/ 0 h 5663639"/>
              <a:gd name="connsiteX4" fmla="*/ 6274279 w 6274279"/>
              <a:gd name="connsiteY4" fmla="*/ 5663639 h 5663639"/>
              <a:gd name="connsiteX5" fmla="*/ 4774908 w 6274279"/>
              <a:gd name="connsiteY5" fmla="*/ 5663639 h 5663639"/>
              <a:gd name="connsiteX6" fmla="*/ 2107483 w 6274279"/>
              <a:gd name="connsiteY6" fmla="*/ 5663639 h 5663639"/>
              <a:gd name="connsiteX7" fmla="*/ 302243 w 6274279"/>
              <a:gd name="connsiteY7" fmla="*/ 5663639 h 5663639"/>
              <a:gd name="connsiteX8" fmla="*/ 0 w 6274279"/>
              <a:gd name="connsiteY8" fmla="*/ 5361397 h 5663639"/>
              <a:gd name="connsiteX9" fmla="*/ 0 w 6274279"/>
              <a:gd name="connsiteY9" fmla="*/ 302243 h 5663639"/>
              <a:gd name="connsiteX10" fmla="*/ 302243 w 6274279"/>
              <a:gd name="connsiteY10" fmla="*/ 0 h 5663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74279" h="5663639">
                <a:moveTo>
                  <a:pt x="302243" y="0"/>
                </a:moveTo>
                <a:lnTo>
                  <a:pt x="2107483" y="0"/>
                </a:lnTo>
                <a:lnTo>
                  <a:pt x="4774908" y="0"/>
                </a:lnTo>
                <a:lnTo>
                  <a:pt x="6274279" y="0"/>
                </a:lnTo>
                <a:lnTo>
                  <a:pt x="6274279" y="5663639"/>
                </a:lnTo>
                <a:lnTo>
                  <a:pt x="4774908" y="5663639"/>
                </a:lnTo>
                <a:lnTo>
                  <a:pt x="2107483" y="5663639"/>
                </a:lnTo>
                <a:lnTo>
                  <a:pt x="302243" y="5663639"/>
                </a:lnTo>
                <a:cubicBezTo>
                  <a:pt x="135319" y="5663639"/>
                  <a:pt x="0" y="5528320"/>
                  <a:pt x="0" y="5361397"/>
                </a:cubicBezTo>
                <a:lnTo>
                  <a:pt x="0" y="302243"/>
                </a:lnTo>
                <a:cubicBezTo>
                  <a:pt x="0" y="135319"/>
                  <a:pt x="135319" y="0"/>
                  <a:pt x="30224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691103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2ADF55C-2EE8-1FD6-AB77-FE6A1AB0EE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500949"/>
            <a:ext cx="7584143" cy="5861304"/>
          </a:xfrm>
          <a:custGeom>
            <a:avLst/>
            <a:gdLst>
              <a:gd name="connsiteX0" fmla="*/ 0 w 7584143"/>
              <a:gd name="connsiteY0" fmla="*/ 0 h 5861304"/>
              <a:gd name="connsiteX1" fmla="*/ 2330244 w 7584143"/>
              <a:gd name="connsiteY1" fmla="*/ 0 h 5861304"/>
              <a:gd name="connsiteX2" fmla="*/ 2330244 w 7584143"/>
              <a:gd name="connsiteY2" fmla="*/ 460 h 5861304"/>
              <a:gd name="connsiteX3" fmla="*/ 2643362 w 7584143"/>
              <a:gd name="connsiteY3" fmla="*/ 460 h 5861304"/>
              <a:gd name="connsiteX4" fmla="*/ 5403449 w 7584143"/>
              <a:gd name="connsiteY4" fmla="*/ 460 h 5861304"/>
              <a:gd name="connsiteX5" fmla="*/ 7271401 w 7584143"/>
              <a:gd name="connsiteY5" fmla="*/ 460 h 5861304"/>
              <a:gd name="connsiteX6" fmla="*/ 7584143 w 7584143"/>
              <a:gd name="connsiteY6" fmla="*/ 313202 h 5861304"/>
              <a:gd name="connsiteX7" fmla="*/ 7584143 w 7584143"/>
              <a:gd name="connsiteY7" fmla="*/ 5548103 h 5861304"/>
              <a:gd name="connsiteX8" fmla="*/ 7271401 w 7584143"/>
              <a:gd name="connsiteY8" fmla="*/ 5860845 h 5861304"/>
              <a:gd name="connsiteX9" fmla="*/ 5403449 w 7584143"/>
              <a:gd name="connsiteY9" fmla="*/ 5860845 h 5861304"/>
              <a:gd name="connsiteX10" fmla="*/ 2643362 w 7584143"/>
              <a:gd name="connsiteY10" fmla="*/ 5860845 h 5861304"/>
              <a:gd name="connsiteX11" fmla="*/ 2330244 w 7584143"/>
              <a:gd name="connsiteY11" fmla="*/ 5860845 h 5861304"/>
              <a:gd name="connsiteX12" fmla="*/ 2330244 w 7584143"/>
              <a:gd name="connsiteY12" fmla="*/ 5861304 h 5861304"/>
              <a:gd name="connsiteX13" fmla="*/ 0 w 7584143"/>
              <a:gd name="connsiteY13" fmla="*/ 5861304 h 586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584143" h="5861304">
                <a:moveTo>
                  <a:pt x="0" y="0"/>
                </a:moveTo>
                <a:lnTo>
                  <a:pt x="2330244" y="0"/>
                </a:lnTo>
                <a:lnTo>
                  <a:pt x="2330244" y="460"/>
                </a:lnTo>
                <a:lnTo>
                  <a:pt x="2643362" y="460"/>
                </a:lnTo>
                <a:lnTo>
                  <a:pt x="5403449" y="460"/>
                </a:lnTo>
                <a:lnTo>
                  <a:pt x="7271401" y="460"/>
                </a:lnTo>
                <a:cubicBezTo>
                  <a:pt x="7444124" y="460"/>
                  <a:pt x="7584143" y="140480"/>
                  <a:pt x="7584143" y="313202"/>
                </a:cubicBezTo>
                <a:lnTo>
                  <a:pt x="7584143" y="5548103"/>
                </a:lnTo>
                <a:cubicBezTo>
                  <a:pt x="7584143" y="5720826"/>
                  <a:pt x="7444124" y="5860845"/>
                  <a:pt x="7271401" y="5860845"/>
                </a:cubicBezTo>
                <a:lnTo>
                  <a:pt x="5403449" y="5860845"/>
                </a:lnTo>
                <a:lnTo>
                  <a:pt x="2643362" y="5860845"/>
                </a:lnTo>
                <a:lnTo>
                  <a:pt x="2330244" y="5860845"/>
                </a:lnTo>
                <a:lnTo>
                  <a:pt x="2330244" y="5861304"/>
                </a:lnTo>
                <a:lnTo>
                  <a:pt x="0" y="5861304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1E025-4B4E-790A-70F2-EBDF57CDBF1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8DB5AF-1AC5-9914-BD02-F8CDB14481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2162775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8591CF2-44E9-18CF-D92F-1FD0FA0301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557829"/>
            <a:ext cx="7430219" cy="5742345"/>
          </a:xfrm>
          <a:custGeom>
            <a:avLst/>
            <a:gdLst>
              <a:gd name="connsiteX0" fmla="*/ 5147268 w 7430219"/>
              <a:gd name="connsiteY0" fmla="*/ 0 h 5742345"/>
              <a:gd name="connsiteX1" fmla="*/ 7430219 w 7430219"/>
              <a:gd name="connsiteY1" fmla="*/ 0 h 5742345"/>
              <a:gd name="connsiteX2" fmla="*/ 7430219 w 7430219"/>
              <a:gd name="connsiteY2" fmla="*/ 5742345 h 5742345"/>
              <a:gd name="connsiteX3" fmla="*/ 5147268 w 7430219"/>
              <a:gd name="connsiteY3" fmla="*/ 5742345 h 5742345"/>
              <a:gd name="connsiteX4" fmla="*/ 5147268 w 7430219"/>
              <a:gd name="connsiteY4" fmla="*/ 5741896 h 5742345"/>
              <a:gd name="connsiteX5" fmla="*/ 4840505 w 7430219"/>
              <a:gd name="connsiteY5" fmla="*/ 5741896 h 5742345"/>
              <a:gd name="connsiteX6" fmla="*/ 2136436 w 7430219"/>
              <a:gd name="connsiteY6" fmla="*/ 5741896 h 5742345"/>
              <a:gd name="connsiteX7" fmla="*/ 306395 w 7430219"/>
              <a:gd name="connsiteY7" fmla="*/ 5741896 h 5742345"/>
              <a:gd name="connsiteX8" fmla="*/ 0 w 7430219"/>
              <a:gd name="connsiteY8" fmla="*/ 5435501 h 5742345"/>
              <a:gd name="connsiteX9" fmla="*/ 0 w 7430219"/>
              <a:gd name="connsiteY9" fmla="*/ 306845 h 5742345"/>
              <a:gd name="connsiteX10" fmla="*/ 306395 w 7430219"/>
              <a:gd name="connsiteY10" fmla="*/ 451 h 5742345"/>
              <a:gd name="connsiteX11" fmla="*/ 2136436 w 7430219"/>
              <a:gd name="connsiteY11" fmla="*/ 451 h 5742345"/>
              <a:gd name="connsiteX12" fmla="*/ 4840505 w 7430219"/>
              <a:gd name="connsiteY12" fmla="*/ 451 h 5742345"/>
              <a:gd name="connsiteX13" fmla="*/ 5147268 w 7430219"/>
              <a:gd name="connsiteY13" fmla="*/ 451 h 574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430219" h="5742345">
                <a:moveTo>
                  <a:pt x="5147268" y="0"/>
                </a:moveTo>
                <a:lnTo>
                  <a:pt x="7430219" y="0"/>
                </a:lnTo>
                <a:lnTo>
                  <a:pt x="7430219" y="5742345"/>
                </a:lnTo>
                <a:lnTo>
                  <a:pt x="5147268" y="5742345"/>
                </a:lnTo>
                <a:lnTo>
                  <a:pt x="5147268" y="5741896"/>
                </a:lnTo>
                <a:lnTo>
                  <a:pt x="4840505" y="5741896"/>
                </a:lnTo>
                <a:lnTo>
                  <a:pt x="2136436" y="5741896"/>
                </a:lnTo>
                <a:lnTo>
                  <a:pt x="306395" y="5741896"/>
                </a:lnTo>
                <a:cubicBezTo>
                  <a:pt x="137177" y="5741896"/>
                  <a:pt x="0" y="5604718"/>
                  <a:pt x="0" y="5435501"/>
                </a:cubicBezTo>
                <a:lnTo>
                  <a:pt x="0" y="306845"/>
                </a:lnTo>
                <a:cubicBezTo>
                  <a:pt x="0" y="137629"/>
                  <a:pt x="137177" y="451"/>
                  <a:pt x="306395" y="451"/>
                </a:cubicBezTo>
                <a:lnTo>
                  <a:pt x="2136436" y="451"/>
                </a:lnTo>
                <a:lnTo>
                  <a:pt x="4840505" y="451"/>
                </a:lnTo>
                <a:lnTo>
                  <a:pt x="5147268" y="45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0E272-9668-C850-34DC-A513583C75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A0F1F-73F3-2520-20AE-D12609A0BF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0221780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CFBFA6-C829-7A77-B370-475C5143C7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500719"/>
            <a:ext cx="7781365" cy="5861304"/>
          </a:xfrm>
          <a:custGeom>
            <a:avLst/>
            <a:gdLst>
              <a:gd name="connsiteX0" fmla="*/ 0 w 7781365"/>
              <a:gd name="connsiteY0" fmla="*/ 0 h 5861304"/>
              <a:gd name="connsiteX1" fmla="*/ 197221 w 7781365"/>
              <a:gd name="connsiteY1" fmla="*/ 0 h 5861304"/>
              <a:gd name="connsiteX2" fmla="*/ 2005781 w 7781365"/>
              <a:gd name="connsiteY2" fmla="*/ 0 h 5861304"/>
              <a:gd name="connsiteX3" fmla="*/ 2527466 w 7781365"/>
              <a:gd name="connsiteY3" fmla="*/ 0 h 5861304"/>
              <a:gd name="connsiteX4" fmla="*/ 2527466 w 7781365"/>
              <a:gd name="connsiteY4" fmla="*/ 460 h 5861304"/>
              <a:gd name="connsiteX5" fmla="*/ 2840584 w 7781365"/>
              <a:gd name="connsiteY5" fmla="*/ 460 h 5861304"/>
              <a:gd name="connsiteX6" fmla="*/ 5600671 w 7781365"/>
              <a:gd name="connsiteY6" fmla="*/ 460 h 5861304"/>
              <a:gd name="connsiteX7" fmla="*/ 7468623 w 7781365"/>
              <a:gd name="connsiteY7" fmla="*/ 460 h 5861304"/>
              <a:gd name="connsiteX8" fmla="*/ 7781365 w 7781365"/>
              <a:gd name="connsiteY8" fmla="*/ 313202 h 5861304"/>
              <a:gd name="connsiteX9" fmla="*/ 7781365 w 7781365"/>
              <a:gd name="connsiteY9" fmla="*/ 5548103 h 5861304"/>
              <a:gd name="connsiteX10" fmla="*/ 7468623 w 7781365"/>
              <a:gd name="connsiteY10" fmla="*/ 5860845 h 5861304"/>
              <a:gd name="connsiteX11" fmla="*/ 5600671 w 7781365"/>
              <a:gd name="connsiteY11" fmla="*/ 5860845 h 5861304"/>
              <a:gd name="connsiteX12" fmla="*/ 2840584 w 7781365"/>
              <a:gd name="connsiteY12" fmla="*/ 5860845 h 5861304"/>
              <a:gd name="connsiteX13" fmla="*/ 2527466 w 7781365"/>
              <a:gd name="connsiteY13" fmla="*/ 5860845 h 5861304"/>
              <a:gd name="connsiteX14" fmla="*/ 2527466 w 7781365"/>
              <a:gd name="connsiteY14" fmla="*/ 5861304 h 5861304"/>
              <a:gd name="connsiteX15" fmla="*/ 2005781 w 7781365"/>
              <a:gd name="connsiteY15" fmla="*/ 5861304 h 5861304"/>
              <a:gd name="connsiteX16" fmla="*/ 197221 w 7781365"/>
              <a:gd name="connsiteY16" fmla="*/ 5861304 h 5861304"/>
              <a:gd name="connsiteX17" fmla="*/ 0 w 7781365"/>
              <a:gd name="connsiteY17" fmla="*/ 5861304 h 586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781365" h="5861304">
                <a:moveTo>
                  <a:pt x="0" y="0"/>
                </a:moveTo>
                <a:lnTo>
                  <a:pt x="197221" y="0"/>
                </a:lnTo>
                <a:lnTo>
                  <a:pt x="2005781" y="0"/>
                </a:lnTo>
                <a:lnTo>
                  <a:pt x="2527466" y="0"/>
                </a:lnTo>
                <a:lnTo>
                  <a:pt x="2527466" y="460"/>
                </a:lnTo>
                <a:lnTo>
                  <a:pt x="2840584" y="460"/>
                </a:lnTo>
                <a:lnTo>
                  <a:pt x="5600671" y="460"/>
                </a:lnTo>
                <a:lnTo>
                  <a:pt x="7468623" y="460"/>
                </a:lnTo>
                <a:cubicBezTo>
                  <a:pt x="7641346" y="460"/>
                  <a:pt x="7781365" y="140480"/>
                  <a:pt x="7781365" y="313202"/>
                </a:cubicBezTo>
                <a:lnTo>
                  <a:pt x="7781365" y="5548103"/>
                </a:lnTo>
                <a:cubicBezTo>
                  <a:pt x="7781365" y="5720826"/>
                  <a:pt x="7641346" y="5860845"/>
                  <a:pt x="7468623" y="5860845"/>
                </a:cubicBezTo>
                <a:lnTo>
                  <a:pt x="5600671" y="5860845"/>
                </a:lnTo>
                <a:lnTo>
                  <a:pt x="2840584" y="5860845"/>
                </a:lnTo>
                <a:lnTo>
                  <a:pt x="2527466" y="5860845"/>
                </a:lnTo>
                <a:lnTo>
                  <a:pt x="2527466" y="5861304"/>
                </a:lnTo>
                <a:lnTo>
                  <a:pt x="2005781" y="5861304"/>
                </a:lnTo>
                <a:lnTo>
                  <a:pt x="197221" y="5861304"/>
                </a:lnTo>
                <a:lnTo>
                  <a:pt x="0" y="5861304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6261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012268"/>
            <a:ext cx="3739896" cy="1390330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9D96E9E-DFC6-985A-1AB3-900A281D1A0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563826"/>
            <a:ext cx="11002361" cy="4071307"/>
          </a:xfrm>
          <a:custGeom>
            <a:avLst/>
            <a:gdLst>
              <a:gd name="connsiteX0" fmla="*/ 0 w 11002361"/>
              <a:gd name="connsiteY0" fmla="*/ 0 h 4071307"/>
              <a:gd name="connsiteX1" fmla="*/ 9220200 w 11002361"/>
              <a:gd name="connsiteY1" fmla="*/ 0 h 4071307"/>
              <a:gd name="connsiteX2" fmla="*/ 9220200 w 11002361"/>
              <a:gd name="connsiteY2" fmla="*/ 1 h 4071307"/>
              <a:gd name="connsiteX3" fmla="*/ 10695675 w 11002361"/>
              <a:gd name="connsiteY3" fmla="*/ 1 h 4071307"/>
              <a:gd name="connsiteX4" fmla="*/ 11002361 w 11002361"/>
              <a:gd name="connsiteY4" fmla="*/ 306687 h 4071307"/>
              <a:gd name="connsiteX5" fmla="*/ 11002361 w 11002361"/>
              <a:gd name="connsiteY5" fmla="*/ 3784866 h 4071307"/>
              <a:gd name="connsiteX6" fmla="*/ 10815051 w 11002361"/>
              <a:gd name="connsiteY6" fmla="*/ 4067451 h 4071307"/>
              <a:gd name="connsiteX7" fmla="*/ 10802629 w 11002361"/>
              <a:gd name="connsiteY7" fmla="*/ 4071307 h 4071307"/>
              <a:gd name="connsiteX8" fmla="*/ 0 w 11002361"/>
              <a:gd name="connsiteY8" fmla="*/ 4071307 h 40713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02361" h="4071307">
                <a:moveTo>
                  <a:pt x="0" y="0"/>
                </a:moveTo>
                <a:lnTo>
                  <a:pt x="9220200" y="0"/>
                </a:lnTo>
                <a:lnTo>
                  <a:pt x="9220200" y="1"/>
                </a:lnTo>
                <a:lnTo>
                  <a:pt x="10695675" y="1"/>
                </a:lnTo>
                <a:cubicBezTo>
                  <a:pt x="10865053" y="1"/>
                  <a:pt x="11002361" y="137309"/>
                  <a:pt x="11002361" y="306687"/>
                </a:cubicBezTo>
                <a:lnTo>
                  <a:pt x="11002361" y="3784866"/>
                </a:lnTo>
                <a:cubicBezTo>
                  <a:pt x="11002361" y="3911900"/>
                  <a:pt x="10925125" y="4020894"/>
                  <a:pt x="10815051" y="4067451"/>
                </a:cubicBezTo>
                <a:lnTo>
                  <a:pt x="10802629" y="4071307"/>
                </a:lnTo>
                <a:lnTo>
                  <a:pt x="0" y="40713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632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786418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62318"/>
            <a:ext cx="2953618" cy="1892808"/>
          </a:xfrm>
        </p:spPr>
        <p:txBody>
          <a:bodyPr anchor="t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A66EB8D-4883-CF33-FB2A-FA4B7CE045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10869559" cy="3778270"/>
          </a:xfrm>
          <a:custGeom>
            <a:avLst/>
            <a:gdLst>
              <a:gd name="connsiteX0" fmla="*/ 0 w 10869559"/>
              <a:gd name="connsiteY0" fmla="*/ 0 h 3778270"/>
              <a:gd name="connsiteX1" fmla="*/ 663675 w 10869559"/>
              <a:gd name="connsiteY1" fmla="*/ 0 h 3778270"/>
              <a:gd name="connsiteX2" fmla="*/ 1592826 w 10869559"/>
              <a:gd name="connsiteY2" fmla="*/ 0 h 3778270"/>
              <a:gd name="connsiteX3" fmla="*/ 9216411 w 10869559"/>
              <a:gd name="connsiteY3" fmla="*/ 0 h 3778270"/>
              <a:gd name="connsiteX4" fmla="*/ 9216411 w 10869559"/>
              <a:gd name="connsiteY4" fmla="*/ 1 h 3778270"/>
              <a:gd name="connsiteX5" fmla="*/ 10585074 w 10869559"/>
              <a:gd name="connsiteY5" fmla="*/ 1 h 3778270"/>
              <a:gd name="connsiteX6" fmla="*/ 10869559 w 10869559"/>
              <a:gd name="connsiteY6" fmla="*/ 284486 h 3778270"/>
              <a:gd name="connsiteX7" fmla="*/ 10869559 w 10869559"/>
              <a:gd name="connsiteY7" fmla="*/ 3510875 h 3778270"/>
              <a:gd name="connsiteX8" fmla="*/ 10695808 w 10869559"/>
              <a:gd name="connsiteY8" fmla="*/ 3773003 h 3778270"/>
              <a:gd name="connsiteX9" fmla="*/ 10678840 w 10869559"/>
              <a:gd name="connsiteY9" fmla="*/ 3778270 h 3778270"/>
              <a:gd name="connsiteX10" fmla="*/ 0 w 10869559"/>
              <a:gd name="connsiteY10" fmla="*/ 3778270 h 3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869559" h="3778270">
                <a:moveTo>
                  <a:pt x="0" y="0"/>
                </a:moveTo>
                <a:lnTo>
                  <a:pt x="663675" y="0"/>
                </a:lnTo>
                <a:lnTo>
                  <a:pt x="1592826" y="0"/>
                </a:lnTo>
                <a:lnTo>
                  <a:pt x="9216411" y="0"/>
                </a:lnTo>
                <a:lnTo>
                  <a:pt x="9216411" y="1"/>
                </a:lnTo>
                <a:lnTo>
                  <a:pt x="10585074" y="1"/>
                </a:lnTo>
                <a:cubicBezTo>
                  <a:pt x="10742191" y="1"/>
                  <a:pt x="10869559" y="127369"/>
                  <a:pt x="10869559" y="284486"/>
                </a:cubicBezTo>
                <a:lnTo>
                  <a:pt x="10869559" y="3510875"/>
                </a:lnTo>
                <a:cubicBezTo>
                  <a:pt x="10869559" y="3628712"/>
                  <a:pt x="10797914" y="3729816"/>
                  <a:pt x="10695808" y="3773003"/>
                </a:cubicBezTo>
                <a:lnTo>
                  <a:pt x="10678840" y="3778270"/>
                </a:lnTo>
                <a:lnTo>
                  <a:pt x="0" y="377827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1927249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2953618" cy="1892808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48640"/>
            <a:ext cx="7772400" cy="224028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12E0B2E-508E-234D-B0A0-9E5ED494E5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079730"/>
            <a:ext cx="10869559" cy="3778270"/>
          </a:xfrm>
          <a:custGeom>
            <a:avLst/>
            <a:gdLst>
              <a:gd name="connsiteX0" fmla="*/ 0 w 10869559"/>
              <a:gd name="connsiteY0" fmla="*/ 0 h 3778270"/>
              <a:gd name="connsiteX1" fmla="*/ 10678837 w 10869559"/>
              <a:gd name="connsiteY1" fmla="*/ 0 h 3778270"/>
              <a:gd name="connsiteX2" fmla="*/ 10695808 w 10869559"/>
              <a:gd name="connsiteY2" fmla="*/ 5268 h 3778270"/>
              <a:gd name="connsiteX3" fmla="*/ 10869559 w 10869559"/>
              <a:gd name="connsiteY3" fmla="*/ 267397 h 3778270"/>
              <a:gd name="connsiteX4" fmla="*/ 10869559 w 10869559"/>
              <a:gd name="connsiteY4" fmla="*/ 3493786 h 3778270"/>
              <a:gd name="connsiteX5" fmla="*/ 10585074 w 10869559"/>
              <a:gd name="connsiteY5" fmla="*/ 3778270 h 3778270"/>
              <a:gd name="connsiteX6" fmla="*/ 9216411 w 10869559"/>
              <a:gd name="connsiteY6" fmla="*/ 3778270 h 3778270"/>
              <a:gd name="connsiteX7" fmla="*/ 7808345 w 10869559"/>
              <a:gd name="connsiteY7" fmla="*/ 3778270 h 3778270"/>
              <a:gd name="connsiteX8" fmla="*/ 1592826 w 10869559"/>
              <a:gd name="connsiteY8" fmla="*/ 3778270 h 3778270"/>
              <a:gd name="connsiteX9" fmla="*/ 663675 w 10869559"/>
              <a:gd name="connsiteY9" fmla="*/ 3778270 h 3778270"/>
              <a:gd name="connsiteX10" fmla="*/ 0 w 10869559"/>
              <a:gd name="connsiteY10" fmla="*/ 3778270 h 3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869559" h="3778270">
                <a:moveTo>
                  <a:pt x="0" y="0"/>
                </a:moveTo>
                <a:lnTo>
                  <a:pt x="10678837" y="0"/>
                </a:lnTo>
                <a:lnTo>
                  <a:pt x="10695808" y="5268"/>
                </a:lnTo>
                <a:cubicBezTo>
                  <a:pt x="10797914" y="48455"/>
                  <a:pt x="10869559" y="149559"/>
                  <a:pt x="10869559" y="267397"/>
                </a:cubicBezTo>
                <a:lnTo>
                  <a:pt x="10869559" y="3493786"/>
                </a:lnTo>
                <a:cubicBezTo>
                  <a:pt x="10869559" y="3650902"/>
                  <a:pt x="10742191" y="3778270"/>
                  <a:pt x="10585074" y="3778270"/>
                </a:cubicBezTo>
                <a:lnTo>
                  <a:pt x="9216411" y="3778270"/>
                </a:lnTo>
                <a:lnTo>
                  <a:pt x="7808345" y="3778270"/>
                </a:lnTo>
                <a:lnTo>
                  <a:pt x="1592826" y="3778270"/>
                </a:lnTo>
                <a:lnTo>
                  <a:pt x="663675" y="3778270"/>
                </a:lnTo>
                <a:lnTo>
                  <a:pt x="0" y="377827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4172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972802" cy="969264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75E0554-AFC0-6021-9659-FB67DE75B1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custGeom>
            <a:avLst/>
            <a:gdLst>
              <a:gd name="connsiteX0" fmla="*/ 1528012 w 6172200"/>
              <a:gd name="connsiteY0" fmla="*/ 0 h 4425696"/>
              <a:gd name="connsiteX1" fmla="*/ 5795884 w 6172200"/>
              <a:gd name="connsiteY1" fmla="*/ 0 h 4425696"/>
              <a:gd name="connsiteX2" fmla="*/ 6164556 w 6172200"/>
              <a:gd name="connsiteY2" fmla="*/ 300476 h 4425696"/>
              <a:gd name="connsiteX3" fmla="*/ 6172200 w 6172200"/>
              <a:gd name="connsiteY3" fmla="*/ 376308 h 4425696"/>
              <a:gd name="connsiteX4" fmla="*/ 6172200 w 6172200"/>
              <a:gd name="connsiteY4" fmla="*/ 4049388 h 4425696"/>
              <a:gd name="connsiteX5" fmla="*/ 6164556 w 6172200"/>
              <a:gd name="connsiteY5" fmla="*/ 4125220 h 4425696"/>
              <a:gd name="connsiteX6" fmla="*/ 5795884 w 6172200"/>
              <a:gd name="connsiteY6" fmla="*/ 4425696 h 4425696"/>
              <a:gd name="connsiteX7" fmla="*/ 4644199 w 6172200"/>
              <a:gd name="connsiteY7" fmla="*/ 4425696 h 4425696"/>
              <a:gd name="connsiteX8" fmla="*/ 376307 w 6172200"/>
              <a:gd name="connsiteY8" fmla="*/ 4425696 h 4425696"/>
              <a:gd name="connsiteX9" fmla="*/ 300476 w 6172200"/>
              <a:gd name="connsiteY9" fmla="*/ 4418052 h 4425696"/>
              <a:gd name="connsiteX10" fmla="*/ 0 w 6172200"/>
              <a:gd name="connsiteY10" fmla="*/ 4049380 h 4425696"/>
              <a:gd name="connsiteX11" fmla="*/ 0 w 6172200"/>
              <a:gd name="connsiteY11" fmla="*/ 376318 h 4425696"/>
              <a:gd name="connsiteX12" fmla="*/ 376317 w 6172200"/>
              <a:gd name="connsiteY12" fmla="*/ 1 h 4425696"/>
              <a:gd name="connsiteX13" fmla="*/ 1528002 w 6172200"/>
              <a:gd name="connsiteY13" fmla="*/ 1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172200" h="4425696">
                <a:moveTo>
                  <a:pt x="1528012" y="0"/>
                </a:moveTo>
                <a:lnTo>
                  <a:pt x="5795884" y="0"/>
                </a:lnTo>
                <a:cubicBezTo>
                  <a:pt x="5977739" y="0"/>
                  <a:pt x="6129466" y="128995"/>
                  <a:pt x="6164556" y="300476"/>
                </a:cubicBezTo>
                <a:lnTo>
                  <a:pt x="6172200" y="376308"/>
                </a:lnTo>
                <a:lnTo>
                  <a:pt x="6172200" y="4049388"/>
                </a:lnTo>
                <a:lnTo>
                  <a:pt x="6164556" y="4125220"/>
                </a:lnTo>
                <a:cubicBezTo>
                  <a:pt x="6129466" y="4296701"/>
                  <a:pt x="5977739" y="4425696"/>
                  <a:pt x="5795884" y="4425696"/>
                </a:cubicBezTo>
                <a:lnTo>
                  <a:pt x="4644199" y="4425696"/>
                </a:lnTo>
                <a:lnTo>
                  <a:pt x="376307" y="4425696"/>
                </a:lnTo>
                <a:lnTo>
                  <a:pt x="300476" y="4418052"/>
                </a:lnTo>
                <a:cubicBezTo>
                  <a:pt x="128995" y="4382962"/>
                  <a:pt x="0" y="4231235"/>
                  <a:pt x="0" y="4049380"/>
                </a:cubicBezTo>
                <a:lnTo>
                  <a:pt x="0" y="376318"/>
                </a:lnTo>
                <a:cubicBezTo>
                  <a:pt x="0" y="168484"/>
                  <a:pt x="168483" y="1"/>
                  <a:pt x="376317" y="1"/>
                </a:cubicBezTo>
                <a:lnTo>
                  <a:pt x="1528002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076936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A87B29A-8A7E-03FA-CAE4-603D4A7507E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0644" y="2290890"/>
            <a:ext cx="4672584" cy="4041648"/>
          </a:xfrm>
          <a:custGeom>
            <a:avLst/>
            <a:gdLst>
              <a:gd name="connsiteX0" fmla="*/ 343661 w 4672584"/>
              <a:gd name="connsiteY0" fmla="*/ 0 h 4041648"/>
              <a:gd name="connsiteX1" fmla="*/ 4328923 w 4672584"/>
              <a:gd name="connsiteY1" fmla="*/ 0 h 4041648"/>
              <a:gd name="connsiteX2" fmla="*/ 4672584 w 4672584"/>
              <a:gd name="connsiteY2" fmla="*/ 343661 h 4041648"/>
              <a:gd name="connsiteX3" fmla="*/ 4672584 w 4672584"/>
              <a:gd name="connsiteY3" fmla="*/ 3697987 h 4041648"/>
              <a:gd name="connsiteX4" fmla="*/ 4328923 w 4672584"/>
              <a:gd name="connsiteY4" fmla="*/ 4041648 h 4041648"/>
              <a:gd name="connsiteX5" fmla="*/ 343661 w 4672584"/>
              <a:gd name="connsiteY5" fmla="*/ 4041648 h 4041648"/>
              <a:gd name="connsiteX6" fmla="*/ 0 w 4672584"/>
              <a:gd name="connsiteY6" fmla="*/ 3697987 h 4041648"/>
              <a:gd name="connsiteX7" fmla="*/ 0 w 4672584"/>
              <a:gd name="connsiteY7" fmla="*/ 343661 h 4041648"/>
              <a:gd name="connsiteX8" fmla="*/ 343661 w 4672584"/>
              <a:gd name="connsiteY8" fmla="*/ 0 h 404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72584" h="4041648">
                <a:moveTo>
                  <a:pt x="343661" y="0"/>
                </a:moveTo>
                <a:lnTo>
                  <a:pt x="4328923" y="0"/>
                </a:lnTo>
                <a:cubicBezTo>
                  <a:pt x="4518722" y="0"/>
                  <a:pt x="4672584" y="153862"/>
                  <a:pt x="4672584" y="343661"/>
                </a:cubicBezTo>
                <a:lnTo>
                  <a:pt x="4672584" y="3697987"/>
                </a:lnTo>
                <a:cubicBezTo>
                  <a:pt x="4672584" y="3887786"/>
                  <a:pt x="4518722" y="4041648"/>
                  <a:pt x="4328923" y="4041648"/>
                </a:cubicBezTo>
                <a:lnTo>
                  <a:pt x="343661" y="4041648"/>
                </a:lnTo>
                <a:cubicBezTo>
                  <a:pt x="153862" y="4041648"/>
                  <a:pt x="0" y="3887786"/>
                  <a:pt x="0" y="3697987"/>
                </a:cubicBezTo>
                <a:lnTo>
                  <a:pt x="0" y="343661"/>
                </a:lnTo>
                <a:cubicBezTo>
                  <a:pt x="0" y="153862"/>
                  <a:pt x="153862" y="0"/>
                  <a:pt x="34366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8249054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9836912-DF32-220D-916F-C27FCC1F8E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353" y="2295144"/>
            <a:ext cx="3490176" cy="4041648"/>
          </a:xfrm>
          <a:custGeom>
            <a:avLst/>
            <a:gdLst>
              <a:gd name="connsiteX0" fmla="*/ 297009 w 3490176"/>
              <a:gd name="connsiteY0" fmla="*/ 0 h 4041648"/>
              <a:gd name="connsiteX1" fmla="*/ 3195997 w 3490176"/>
              <a:gd name="connsiteY1" fmla="*/ 0 h 4041648"/>
              <a:gd name="connsiteX2" fmla="*/ 3486973 w 3490176"/>
              <a:gd name="connsiteY2" fmla="*/ 237152 h 4041648"/>
              <a:gd name="connsiteX3" fmla="*/ 3490176 w 3490176"/>
              <a:gd name="connsiteY3" fmla="*/ 268927 h 4041648"/>
              <a:gd name="connsiteX4" fmla="*/ 3490176 w 3490176"/>
              <a:gd name="connsiteY4" fmla="*/ 3772721 h 4041648"/>
              <a:gd name="connsiteX5" fmla="*/ 3486973 w 3490176"/>
              <a:gd name="connsiteY5" fmla="*/ 3804496 h 4041648"/>
              <a:gd name="connsiteX6" fmla="*/ 3195997 w 3490176"/>
              <a:gd name="connsiteY6" fmla="*/ 4041648 h 4041648"/>
              <a:gd name="connsiteX7" fmla="*/ 297009 w 3490176"/>
              <a:gd name="connsiteY7" fmla="*/ 4041648 h 4041648"/>
              <a:gd name="connsiteX8" fmla="*/ 6033 w 3490176"/>
              <a:gd name="connsiteY8" fmla="*/ 3804496 h 4041648"/>
              <a:gd name="connsiteX9" fmla="*/ 0 w 3490176"/>
              <a:gd name="connsiteY9" fmla="*/ 3744648 h 4041648"/>
              <a:gd name="connsiteX10" fmla="*/ 0 w 3490176"/>
              <a:gd name="connsiteY10" fmla="*/ 297000 h 4041648"/>
              <a:gd name="connsiteX11" fmla="*/ 6033 w 3490176"/>
              <a:gd name="connsiteY11" fmla="*/ 237152 h 4041648"/>
              <a:gd name="connsiteX12" fmla="*/ 297009 w 3490176"/>
              <a:gd name="connsiteY12" fmla="*/ 0 h 404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90176" h="4041648">
                <a:moveTo>
                  <a:pt x="297009" y="0"/>
                </a:moveTo>
                <a:lnTo>
                  <a:pt x="3195997" y="0"/>
                </a:lnTo>
                <a:cubicBezTo>
                  <a:pt x="3339527" y="0"/>
                  <a:pt x="3459278" y="101810"/>
                  <a:pt x="3486973" y="237152"/>
                </a:cubicBezTo>
                <a:lnTo>
                  <a:pt x="3490176" y="268927"/>
                </a:lnTo>
                <a:lnTo>
                  <a:pt x="3490176" y="3772721"/>
                </a:lnTo>
                <a:lnTo>
                  <a:pt x="3486973" y="3804496"/>
                </a:lnTo>
                <a:cubicBezTo>
                  <a:pt x="3459278" y="3939839"/>
                  <a:pt x="3339527" y="4041648"/>
                  <a:pt x="3195997" y="4041648"/>
                </a:cubicBezTo>
                <a:lnTo>
                  <a:pt x="297009" y="4041648"/>
                </a:lnTo>
                <a:cubicBezTo>
                  <a:pt x="153479" y="4041648"/>
                  <a:pt x="33728" y="3939839"/>
                  <a:pt x="6033" y="3804496"/>
                </a:cubicBezTo>
                <a:lnTo>
                  <a:pt x="0" y="3744648"/>
                </a:lnTo>
                <a:lnTo>
                  <a:pt x="0" y="297000"/>
                </a:lnTo>
                <a:lnTo>
                  <a:pt x="6033" y="237152"/>
                </a:lnTo>
                <a:cubicBezTo>
                  <a:pt x="33728" y="101810"/>
                  <a:pt x="153479" y="0"/>
                  <a:pt x="2970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618783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718304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603503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1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030341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120640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809412"/>
            <a:ext cx="10543032" cy="4206240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30000" b="1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346784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9224036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548640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0" i="0">
                <a:solidFill>
                  <a:schemeClr val="bg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800" b="0" i="0">
                <a:solidFill>
                  <a:schemeClr val="bg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400" b="0" i="0">
                <a:solidFill>
                  <a:schemeClr val="bg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4000" b="0" i="0">
                <a:solidFill>
                  <a:schemeClr val="bg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600" b="0" i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84806756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0" i="0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0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0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3324265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0" i="0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0" i="0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0" i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4697183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10868" y="5196402"/>
            <a:ext cx="8970264" cy="466344"/>
          </a:xfrm>
        </p:spPr>
        <p:txBody>
          <a:bodyPr anchor="ctr">
            <a:no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6568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87813677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 b="0" i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895455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669280"/>
            <a:ext cx="8805672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7129832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669280"/>
            <a:ext cx="8805672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3635936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1152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011680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011680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4925583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1152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486025"/>
            <a:ext cx="518160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486025"/>
            <a:ext cx="518160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69474320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872001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72001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573866"/>
            <a:ext cx="5157788" cy="37639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573866"/>
            <a:ext cx="5183188" cy="37639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7612960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2363064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63064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3149594"/>
            <a:ext cx="5157788" cy="310896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3149594"/>
            <a:ext cx="5183188" cy="310896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7662474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653578" cy="118872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942250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83067787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0">
              <a:buNone/>
              <a:defRPr sz="1800"/>
            </a:lvl2pPr>
            <a:lvl3pPr marL="457200" indent="0">
              <a:buNone/>
              <a:defRPr sz="1600"/>
            </a:lvl3pPr>
            <a:lvl4pPr marL="685800" indent="0">
              <a:buNone/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0788183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22A121F-E5F6-5A23-9964-F85D3A000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58294" y="552552"/>
            <a:ext cx="6519080" cy="5752896"/>
          </a:xfrm>
          <a:custGeom>
            <a:avLst/>
            <a:gdLst>
              <a:gd name="connsiteX0" fmla="*/ 485669 w 6519080"/>
              <a:gd name="connsiteY0" fmla="*/ 0 h 5752896"/>
              <a:gd name="connsiteX1" fmla="*/ 6033412 w 6519080"/>
              <a:gd name="connsiteY1" fmla="*/ 0 h 5752896"/>
              <a:gd name="connsiteX2" fmla="*/ 6512642 w 6519080"/>
              <a:gd name="connsiteY2" fmla="*/ 390584 h 5752896"/>
              <a:gd name="connsiteX3" fmla="*/ 6519080 w 6519080"/>
              <a:gd name="connsiteY3" fmla="*/ 454449 h 5752896"/>
              <a:gd name="connsiteX4" fmla="*/ 6519080 w 6519080"/>
              <a:gd name="connsiteY4" fmla="*/ 5298446 h 5752896"/>
              <a:gd name="connsiteX5" fmla="*/ 6512642 w 6519080"/>
              <a:gd name="connsiteY5" fmla="*/ 5362311 h 5752896"/>
              <a:gd name="connsiteX6" fmla="*/ 6033412 w 6519080"/>
              <a:gd name="connsiteY6" fmla="*/ 5752896 h 5752896"/>
              <a:gd name="connsiteX7" fmla="*/ 485669 w 6519080"/>
              <a:gd name="connsiteY7" fmla="*/ 5752896 h 5752896"/>
              <a:gd name="connsiteX8" fmla="*/ 6438 w 6519080"/>
              <a:gd name="connsiteY8" fmla="*/ 5362311 h 5752896"/>
              <a:gd name="connsiteX9" fmla="*/ 0 w 6519080"/>
              <a:gd name="connsiteY9" fmla="*/ 5298451 h 5752896"/>
              <a:gd name="connsiteX10" fmla="*/ 0 w 6519080"/>
              <a:gd name="connsiteY10" fmla="*/ 454445 h 5752896"/>
              <a:gd name="connsiteX11" fmla="*/ 6438 w 6519080"/>
              <a:gd name="connsiteY11" fmla="*/ 390584 h 5752896"/>
              <a:gd name="connsiteX12" fmla="*/ 485669 w 6519080"/>
              <a:gd name="connsiteY12" fmla="*/ 0 h 5752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519080" h="5752896">
                <a:moveTo>
                  <a:pt x="485669" y="0"/>
                </a:moveTo>
                <a:lnTo>
                  <a:pt x="6033412" y="0"/>
                </a:lnTo>
                <a:cubicBezTo>
                  <a:pt x="6269802" y="0"/>
                  <a:pt x="6467029" y="167678"/>
                  <a:pt x="6512642" y="390584"/>
                </a:cubicBezTo>
                <a:lnTo>
                  <a:pt x="6519080" y="454449"/>
                </a:lnTo>
                <a:lnTo>
                  <a:pt x="6519080" y="5298446"/>
                </a:lnTo>
                <a:lnTo>
                  <a:pt x="6512642" y="5362311"/>
                </a:lnTo>
                <a:cubicBezTo>
                  <a:pt x="6467029" y="5585218"/>
                  <a:pt x="6269802" y="5752896"/>
                  <a:pt x="6033412" y="5752896"/>
                </a:cubicBezTo>
                <a:lnTo>
                  <a:pt x="485669" y="5752896"/>
                </a:lnTo>
                <a:cubicBezTo>
                  <a:pt x="249278" y="5752896"/>
                  <a:pt x="52051" y="5585218"/>
                  <a:pt x="6438" y="5362311"/>
                </a:cubicBezTo>
                <a:lnTo>
                  <a:pt x="0" y="5298451"/>
                </a:lnTo>
                <a:lnTo>
                  <a:pt x="0" y="454445"/>
                </a:lnTo>
                <a:lnTo>
                  <a:pt x="6438" y="390584"/>
                </a:lnTo>
                <a:cubicBezTo>
                  <a:pt x="52051" y="167678"/>
                  <a:pt x="249278" y="0"/>
                  <a:pt x="48566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58083149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7342307" cy="1133856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867591"/>
            <a:ext cx="10890374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85800" indent="0">
              <a:buNone/>
              <a:defRPr>
                <a:solidFill>
                  <a:schemeClr val="bg1"/>
                </a:solidFill>
              </a:defRPr>
            </a:lvl4pPr>
            <a:lvl5pPr marL="9144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8492282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11107780" cy="1133856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867591"/>
            <a:ext cx="10890374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85800" indent="0">
              <a:buNone/>
              <a:defRPr>
                <a:solidFill>
                  <a:schemeClr val="bg1"/>
                </a:solidFill>
              </a:defRPr>
            </a:lvl4pPr>
            <a:lvl5pPr marL="9144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231423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627318"/>
            <a:ext cx="8430767" cy="1842020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28600" indent="0">
              <a:buNone/>
              <a:defRPr sz="1600">
                <a:solidFill>
                  <a:schemeClr val="bg1"/>
                </a:solidFill>
              </a:defRPr>
            </a:lvl2pPr>
            <a:lvl3pPr marL="457200" indent="0">
              <a:buNone/>
              <a:defRPr sz="1400">
                <a:solidFill>
                  <a:schemeClr val="bg1"/>
                </a:solidFill>
              </a:defRPr>
            </a:lvl3pPr>
            <a:lvl4pPr marL="685800" indent="0">
              <a:buNone/>
              <a:defRPr sz="1200">
                <a:solidFill>
                  <a:schemeClr val="bg1"/>
                </a:solidFill>
              </a:defRPr>
            </a:lvl4pPr>
            <a:lvl5pPr marL="9144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555850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27213" y="13796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Raleway" pitchFamily="2" charset="0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51015" y="6368780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Raleway" pitchFamily="2" charset="0"/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065343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  <p:sldLayoutId id="2147483847" r:id="rId16"/>
    <p:sldLayoutId id="2147483848" r:id="rId17"/>
    <p:sldLayoutId id="2147483849" r:id="rId18"/>
    <p:sldLayoutId id="2147483850" r:id="rId19"/>
    <p:sldLayoutId id="2147483851" r:id="rId20"/>
    <p:sldLayoutId id="2147483852" r:id="rId21"/>
    <p:sldLayoutId id="2147483853" r:id="rId22"/>
    <p:sldLayoutId id="2147483854" r:id="rId23"/>
    <p:sldLayoutId id="2147483855" r:id="rId24"/>
    <p:sldLayoutId id="2147483856" r:id="rId25"/>
    <p:sldLayoutId id="2147483857" r:id="rId26"/>
    <p:sldLayoutId id="2147483858" r:id="rId27"/>
    <p:sldLayoutId id="2147483859" r:id="rId28"/>
    <p:sldLayoutId id="2147483860" r:id="rId29"/>
    <p:sldLayoutId id="2147483861" r:id="rId30"/>
    <p:sldLayoutId id="2147483862" r:id="rId31"/>
    <p:sldLayoutId id="2147483863" r:id="rId32"/>
    <p:sldLayoutId id="2147483864" r:id="rId33"/>
    <p:sldLayoutId id="2147483865" r:id="rId34"/>
    <p:sldLayoutId id="2147483866" r:id="rId35"/>
    <p:sldLayoutId id="2147483867" r:id="rId36"/>
    <p:sldLayoutId id="2147483868" r:id="rId37"/>
    <p:sldLayoutId id="2147483869" r:id="rId38"/>
    <p:sldLayoutId id="2147483870" r:id="rId39"/>
    <p:sldLayoutId id="2147483871" r:id="rId40"/>
    <p:sldLayoutId id="2147483872" r:id="rId41"/>
    <p:sldLayoutId id="2147483873" r:id="rId42"/>
    <p:sldLayoutId id="2147483874" r:id="rId43"/>
    <p:sldLayoutId id="2147483875" r:id="rId44"/>
    <p:sldLayoutId id="2147483876" r:id="rId45"/>
    <p:sldLayoutId id="2147483877" r:id="rId46"/>
    <p:sldLayoutId id="2147483878" r:id="rId47"/>
    <p:sldLayoutId id="2147483879" r:id="rId48"/>
    <p:sldLayoutId id="2147483880" r:id="rId49"/>
    <p:sldLayoutId id="2147483881" r:id="rId50"/>
    <p:sldLayoutId id="2147483882" r:id="rId51"/>
    <p:sldLayoutId id="2147483883" r:id="rId52"/>
    <p:sldLayoutId id="2147483884" r:id="rId53"/>
    <p:sldLayoutId id="2147483885" r:id="rId54"/>
    <p:sldLayoutId id="2147483886" r:id="rId55"/>
    <p:sldLayoutId id="2147483887" r:id="rId56"/>
    <p:sldLayoutId id="2147483888" r:id="rId57"/>
    <p:sldLayoutId id="2147483889" r:id="rId5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cpafl.org/" TargetMode="External"/><Relationship Id="rId1" Type="http://schemas.openxmlformats.org/officeDocument/2006/relationships/slideLayout" Target="../slideLayouts/slideLayout51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microsoft.com/office/2007/relationships/hdphoto" Target="../media/hdphoto2.wdp"/><Relationship Id="rId7" Type="http://schemas.openxmlformats.org/officeDocument/2006/relationships/diagramColors" Target="../diagrams/colors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hyperlink" Target="https://github.com/bofethe/parcel-sa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13C91-E510-4F7C-818F-C46FECE888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1825" y="4957555"/>
            <a:ext cx="7128407" cy="1737360"/>
          </a:xfrm>
        </p:spPr>
        <p:txBody>
          <a:bodyPr/>
          <a:lstStyle/>
          <a:p>
            <a:r>
              <a:rPr lang="en-US" dirty="0"/>
              <a:t>Hillsborough County Parcel Sales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F1FF-87FC-80DD-5AB5-4F02641B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0328" y="4957555"/>
            <a:ext cx="3496092" cy="1322653"/>
          </a:xfrm>
        </p:spPr>
        <p:txBody>
          <a:bodyPr/>
          <a:lstStyle/>
          <a:p>
            <a:r>
              <a:rPr lang="en-US" dirty="0"/>
              <a:t>Presented by Bo Fethe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7F349D00-DBC6-DA65-90E2-9816C663E17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43889" b="3677"/>
          <a:stretch/>
        </p:blipFill>
        <p:spPr>
          <a:xfrm>
            <a:off x="1215851" y="589476"/>
            <a:ext cx="10976149" cy="4081805"/>
          </a:xfrm>
        </p:spPr>
      </p:pic>
    </p:spTree>
    <p:extLst>
      <p:ext uri="{BB962C8B-B14F-4D97-AF65-F5344CB8AC3E}">
        <p14:creationId xmlns:p14="http://schemas.microsoft.com/office/powerpoint/2010/main" val="3399578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9145F-19F3-62BD-45B1-BCE975D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20" y="820882"/>
            <a:ext cx="6813300" cy="2103254"/>
          </a:xfrm>
        </p:spPr>
        <p:txBody>
          <a:bodyPr/>
          <a:lstStyle/>
          <a:p>
            <a:r>
              <a:rPr lang="en-US" dirty="0"/>
              <a:t>Purpose </a:t>
            </a:r>
          </a:p>
        </p:txBody>
      </p:sp>
      <p:pic>
        <p:nvPicPr>
          <p:cNvPr id="8" name="Picture Placeholder 7" descr="A close-up of a metal surface with ridges&#10;">
            <a:extLst>
              <a:ext uri="{FF2B5EF4-FFF2-40B4-BE49-F238E27FC236}">
                <a16:creationId xmlns:a16="http://schemas.microsoft.com/office/drawing/2014/main" id="{D6765182-5DF1-100F-689E-E034959A154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773" r="29773"/>
          <a:stretch/>
        </p:blipFill>
        <p:spPr>
          <a:xfrm>
            <a:off x="638475" y="1"/>
            <a:ext cx="3776472" cy="622014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685D94-AADC-B5C4-3A9B-759B877D3BD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3121" y="3273552"/>
            <a:ext cx="6813300" cy="2947091"/>
          </a:xfrm>
        </p:spPr>
        <p:txBody>
          <a:bodyPr>
            <a:normAutofit/>
          </a:bodyPr>
          <a:lstStyle/>
          <a:p>
            <a:r>
              <a:rPr lang="en-US" dirty="0"/>
              <a:t>Leverage analytics to predict property sale values in Hillsborough County, Florida, for supporting damage assessment efforts following natural disasters.</a:t>
            </a:r>
          </a:p>
        </p:txBody>
      </p:sp>
    </p:spTree>
    <p:extLst>
      <p:ext uri="{BB962C8B-B14F-4D97-AF65-F5344CB8AC3E}">
        <p14:creationId xmlns:p14="http://schemas.microsoft.com/office/powerpoint/2010/main" val="3251693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Background →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FCD81-6E05-0E1D-6F27-A02F7126A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6697"/>
            <a:ext cx="5779081" cy="576922"/>
          </a:xfrm>
        </p:spPr>
        <p:txBody>
          <a:bodyPr>
            <a:normAutofit fontScale="90000"/>
          </a:bodyPr>
          <a:lstStyle/>
          <a:p>
            <a:r>
              <a:rPr lang="en-US" dirty="0"/>
              <a:t>Current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1E1C-DF0A-20C9-500E-E854AE5D8A9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573619"/>
            <a:ext cx="5777953" cy="428768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Property values are </a:t>
            </a:r>
            <a:r>
              <a:rPr lang="en-US" b="1" dirty="0"/>
              <a:t>misrepresented </a:t>
            </a:r>
            <a:r>
              <a:rPr lang="en-US" dirty="0"/>
              <a:t>causing inaccuracies after natural disasters when organizations quantify financial impacts for heuristic federal and state reports.</a:t>
            </a:r>
          </a:p>
          <a:p>
            <a:endParaRPr lang="en-US" dirty="0"/>
          </a:p>
          <a:p>
            <a:r>
              <a:rPr lang="en-US" dirty="0"/>
              <a:t>Save Our Homes Act introduces bias by </a:t>
            </a:r>
            <a:r>
              <a:rPr lang="en-US" b="1" dirty="0"/>
              <a:t>limiting the annual increase </a:t>
            </a:r>
            <a:r>
              <a:rPr lang="en-US" dirty="0"/>
              <a:t>in the assessed value of homesteaded properties to 3% or the change in the Consumer Price Index (CPI), whichever is less</a:t>
            </a:r>
          </a:p>
          <a:p>
            <a:endParaRPr lang="en-US" dirty="0"/>
          </a:p>
          <a:p>
            <a:r>
              <a:rPr lang="en-US" dirty="0"/>
              <a:t>Typical assessments are based on either </a:t>
            </a:r>
            <a:r>
              <a:rPr lang="en-US" b="1" dirty="0"/>
              <a:t>Market Value</a:t>
            </a:r>
            <a:r>
              <a:rPr lang="en-US" dirty="0"/>
              <a:t> or </a:t>
            </a:r>
            <a:r>
              <a:rPr lang="en-US" b="1" dirty="0"/>
              <a:t>Building Value</a:t>
            </a:r>
          </a:p>
        </p:txBody>
      </p:sp>
      <p:pic>
        <p:nvPicPr>
          <p:cNvPr id="6" name="Picture Placeholder 5" descr="A close-up of a grid">
            <a:extLst>
              <a:ext uri="{FF2B5EF4-FFF2-40B4-BE49-F238E27FC236}">
                <a16:creationId xmlns:a16="http://schemas.microsoft.com/office/drawing/2014/main" id="{625D4B0A-E11C-A89E-AD42-E9AC938E49D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054" r="16054"/>
          <a:stretch/>
        </p:blipFill>
        <p:spPr>
          <a:xfrm>
            <a:off x="6828440" y="996696"/>
            <a:ext cx="5363561" cy="4864608"/>
          </a:xfrm>
        </p:spPr>
      </p:pic>
    </p:spTree>
    <p:extLst>
      <p:ext uri="{BB962C8B-B14F-4D97-AF65-F5344CB8AC3E}">
        <p14:creationId xmlns:p14="http://schemas.microsoft.com/office/powerpoint/2010/main" val="2190041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45759-57FE-52D0-E362-82D93B5B5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0E299-4CC9-668D-F87C-364FEF980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740392"/>
            <a:ext cx="5157788" cy="2989486"/>
          </a:xfrm>
        </p:spPr>
        <p:txBody>
          <a:bodyPr>
            <a:normAutofit/>
          </a:bodyPr>
          <a:lstStyle/>
          <a:p>
            <a:r>
              <a:rPr lang="en-US" sz="1400" b="1" dirty="0"/>
              <a:t>Market Value</a:t>
            </a:r>
          </a:p>
          <a:p>
            <a:r>
              <a:rPr lang="en-US" sz="1400" dirty="0"/>
              <a:t>The typical price a willing buyer would pay to a willing seller for the property</a:t>
            </a:r>
          </a:p>
          <a:p>
            <a:r>
              <a:rPr lang="en-US" sz="1400" b="0" i="0" dirty="0">
                <a:solidFill>
                  <a:srgbClr val="444444"/>
                </a:solidFill>
                <a:effectLst/>
              </a:rPr>
              <a:t>Calculated using 3 approaches: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444444"/>
                </a:solidFill>
                <a:effectLst/>
              </a:rPr>
              <a:t>Cost Approach – cost to replace all assets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444444"/>
                </a:solidFill>
                <a:effectLst/>
              </a:rPr>
              <a:t>Market Approach – sell price of other similar properties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444444"/>
                </a:solidFill>
                <a:effectLst/>
              </a:rPr>
              <a:t>Income Approach – amount of potentially generated revenue</a:t>
            </a:r>
          </a:p>
          <a:p>
            <a:endParaRPr lang="en-US" sz="1400" b="0" i="0" dirty="0">
              <a:solidFill>
                <a:srgbClr val="444444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4AC5F4-7B6F-9B4C-C86B-24E0A2D006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14730" y="2740392"/>
            <a:ext cx="5183188" cy="2989486"/>
          </a:xfrm>
        </p:spPr>
        <p:txBody>
          <a:bodyPr>
            <a:normAutofit/>
          </a:bodyPr>
          <a:lstStyle/>
          <a:p>
            <a:r>
              <a:rPr lang="en-US" sz="1400" b="1" dirty="0"/>
              <a:t>Building Value</a:t>
            </a:r>
          </a:p>
          <a:p>
            <a:r>
              <a:rPr lang="en-US" sz="1400" dirty="0"/>
              <a:t>The value of all buildings on the property</a:t>
            </a:r>
          </a:p>
          <a:p>
            <a:r>
              <a:rPr lang="en-US" sz="1400" dirty="0"/>
              <a:t>Used for insurance companies to understand what the best policy is</a:t>
            </a:r>
          </a:p>
          <a:p>
            <a:r>
              <a:rPr lang="en-US" sz="1400" dirty="0"/>
              <a:t>Does not include other factors such as driveway, backyard amenities, or location.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ED8D0B-7D6E-195C-28F2-05C6C0EDCBC5}"/>
              </a:ext>
            </a:extLst>
          </p:cNvPr>
          <p:cNvSpPr txBox="1"/>
          <p:nvPr/>
        </p:nvSpPr>
        <p:spPr>
          <a:xfrm>
            <a:off x="548640" y="1865546"/>
            <a:ext cx="9716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data is publicly available on the Hillsborough County Property Appraiser’s website</a:t>
            </a:r>
            <a:r>
              <a:rPr lang="en-US" baseline="300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BEFD0A-BFF1-975A-ADC8-979FDDE0160B}"/>
              </a:ext>
            </a:extLst>
          </p:cNvPr>
          <p:cNvSpPr txBox="1"/>
          <p:nvPr/>
        </p:nvSpPr>
        <p:spPr>
          <a:xfrm>
            <a:off x="548640" y="6485250"/>
            <a:ext cx="17540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aseline="30000" dirty="0"/>
              <a:t>1</a:t>
            </a:r>
            <a:r>
              <a:rPr lang="en-US" sz="1000" dirty="0"/>
              <a:t> </a:t>
            </a:r>
            <a:r>
              <a:rPr lang="en-US" sz="1000" dirty="0">
                <a:hlinkClick r:id="rId2"/>
              </a:rPr>
              <a:t>https://www.hcpafl.org</a:t>
            </a:r>
            <a:r>
              <a:rPr lang="en-US" sz="10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40EA-A367-3B23-1980-4243333F91F2}"/>
              </a:ext>
            </a:extLst>
          </p:cNvPr>
          <p:cNvSpPr txBox="1"/>
          <p:nvPr/>
        </p:nvSpPr>
        <p:spPr>
          <a:xfrm>
            <a:off x="3546263" y="5729878"/>
            <a:ext cx="5109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⚠️ Neither accurately reflect purchase price</a:t>
            </a:r>
          </a:p>
        </p:txBody>
      </p:sp>
    </p:spTree>
    <p:extLst>
      <p:ext uri="{BB962C8B-B14F-4D97-AF65-F5344CB8AC3E}">
        <p14:creationId xmlns:p14="http://schemas.microsoft.com/office/powerpoint/2010/main" val="362414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5" descr="A close-up of a grid">
            <a:extLst>
              <a:ext uri="{FF2B5EF4-FFF2-40B4-BE49-F238E27FC236}">
                <a16:creationId xmlns:a16="http://schemas.microsoft.com/office/drawing/2014/main" id="{3681BD7C-7068-5594-2FF2-1DC1A2D314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" r="-6" b="8650"/>
          <a:stretch/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DB6744-1A53-D932-6DD0-9CC54AE06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11107780" cy="1133856"/>
          </a:xfrm>
        </p:spPr>
        <p:txBody>
          <a:bodyPr/>
          <a:lstStyle/>
          <a:p>
            <a:pPr algn="ctr"/>
            <a:r>
              <a:rPr lang="en-US" dirty="0"/>
              <a:t>Key Studies in Real Estate Price Prediction</a:t>
            </a:r>
          </a:p>
        </p:txBody>
      </p:sp>
      <p:graphicFrame>
        <p:nvGraphicFramePr>
          <p:cNvPr id="4" name="Content Placeholder 3" descr="Flexible text blocks SmartArt graphic">
            <a:extLst>
              <a:ext uri="{FF2B5EF4-FFF2-40B4-BE49-F238E27FC236}">
                <a16:creationId xmlns:a16="http://schemas.microsoft.com/office/drawing/2014/main" id="{D76C2881-1116-71B5-C845-3A893C409845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053825409"/>
              </p:ext>
            </p:extLst>
          </p:nvPr>
        </p:nvGraphicFramePr>
        <p:xfrm>
          <a:off x="549275" y="2867024"/>
          <a:ext cx="10890250" cy="31510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869139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9D6B7-FBE9-65FB-23A2-9C50D74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30809-153F-823B-CABC-2196C6779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Methodology →</a:t>
            </a:r>
          </a:p>
        </p:txBody>
      </p:sp>
    </p:spTree>
    <p:extLst>
      <p:ext uri="{BB962C8B-B14F-4D97-AF65-F5344CB8AC3E}">
        <p14:creationId xmlns:p14="http://schemas.microsoft.com/office/powerpoint/2010/main" val="219621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12E33-1721-B951-B733-B7A6DDB7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581" y="647514"/>
            <a:ext cx="6796553" cy="705298"/>
          </a:xfrm>
        </p:spPr>
        <p:txBody>
          <a:bodyPr/>
          <a:lstStyle/>
          <a:p>
            <a:r>
              <a:rPr lang="en-US" dirty="0"/>
              <a:t>Data Engineering Pipeline</a:t>
            </a:r>
          </a:p>
        </p:txBody>
      </p:sp>
      <p:pic>
        <p:nvPicPr>
          <p:cNvPr id="6" name="Picture Placeholder 5" descr="A close-up of a spiral">
            <a:extLst>
              <a:ext uri="{FF2B5EF4-FFF2-40B4-BE49-F238E27FC236}">
                <a16:creationId xmlns:a16="http://schemas.microsoft.com/office/drawing/2014/main" id="{8F9EDC00-9358-5B30-ACCB-567D2E16D1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863" r="29863"/>
          <a:stretch/>
        </p:blipFill>
        <p:spPr>
          <a:xfrm>
            <a:off x="7907378" y="647514"/>
            <a:ext cx="3749041" cy="621048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DD295-31E0-9F29-4736-6681DD7B6D5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581" y="1553228"/>
            <a:ext cx="6796553" cy="4810996"/>
          </a:xfrm>
        </p:spPr>
        <p:txBody>
          <a:bodyPr>
            <a:normAutofit/>
          </a:bodyPr>
          <a:lstStyle/>
          <a:p>
            <a:r>
              <a:rPr lang="en-US" sz="1400" b="1" dirty="0"/>
              <a:t>Extract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Unzip raw shapefiles containing parcel and sales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.</a:t>
            </a:r>
            <a:r>
              <a:rPr lang="en-US" sz="1400" dirty="0" err="1"/>
              <a:t>dbf</a:t>
            </a:r>
            <a:r>
              <a:rPr lang="en-US" sz="1400" dirty="0"/>
              <a:t> tables using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geopandas</a:t>
            </a:r>
            <a:r>
              <a:rPr lang="en-US" sz="1400" dirty="0"/>
              <a:t> and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endParaRPr lang="en-US" sz="1400" dirty="0"/>
          </a:p>
          <a:p>
            <a:r>
              <a:rPr lang="en-US" sz="1400" b="1" dirty="0"/>
              <a:t>Transform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Extract and standardize year from sales date and keep only last 10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Select relevant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Clean and preprocess for modeling (e.g., missing and sentinel values, data types, outlier detection)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Convert to parquet to increase I/O speeds</a:t>
            </a:r>
          </a:p>
          <a:p>
            <a:r>
              <a:rPr lang="en-US" sz="1400" b="1" dirty="0"/>
              <a:t>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Merge into unified </a:t>
            </a:r>
            <a:r>
              <a:rPr lang="en-US" sz="1400" dirty="0" err="1"/>
              <a:t>DataFrame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04891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2226-E8B5-4152-C4E8-44CF70F9F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46694-3059-0645-3D97-F7753F323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5" y="647514"/>
            <a:ext cx="6796553" cy="859036"/>
          </a:xfrm>
        </p:spPr>
        <p:txBody>
          <a:bodyPr>
            <a:normAutofit fontScale="90000"/>
          </a:bodyPr>
          <a:lstStyle/>
          <a:p>
            <a:r>
              <a:rPr lang="en-US" dirty="0"/>
              <a:t>Analytics and Modeling Approach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62FB08DF-CFBE-51D3-B89B-8D23E27A209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1" r="12271"/>
          <a:stretch/>
        </p:blipFill>
        <p:spPr>
          <a:xfrm>
            <a:off x="535580" y="647514"/>
            <a:ext cx="3749041" cy="621048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57689-5CE7-A965-C773-34E83C70763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1718120"/>
            <a:ext cx="6796553" cy="4810996"/>
          </a:xfrm>
        </p:spPr>
        <p:txBody>
          <a:bodyPr>
            <a:normAutofit fontScale="77500" lnSpcReduction="20000"/>
          </a:bodyPr>
          <a:lstStyle/>
          <a:p>
            <a:r>
              <a:rPr lang="en-US" sz="1400" b="1" dirty="0"/>
              <a:t>Modeling Techniques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Linear Regression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Baseline model for interpretability and trend estimation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Elastic Net Regression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Combines L1 (LASSO) and L2 (Ridge) regularization to handle multicollinearity and feature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Artificial Neural Network (ANN)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Captures complex non-linear relationships between response and predictor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Random Forest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Ensemble method using decision trees that handles nonlinearities and feature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Gradient Boosting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Boosted trees for high predictive performance by using weak learners</a:t>
            </a:r>
          </a:p>
          <a:p>
            <a:r>
              <a:rPr lang="en-US" sz="1400" b="1" dirty="0"/>
              <a:t>Evaluation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Split data into training (80%) and testing (20%) subsets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Cross-validation (CV) performed on training subset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Ensures robustness and reduces overfitting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5-fold CV used to tune hyperparameters and assess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Select the model with the lowest mean squared error (MSE)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Fit the model to the testing subset</a:t>
            </a:r>
          </a:p>
        </p:txBody>
      </p:sp>
    </p:spTree>
    <p:extLst>
      <p:ext uri="{BB962C8B-B14F-4D97-AF65-F5344CB8AC3E}">
        <p14:creationId xmlns:p14="http://schemas.microsoft.com/office/powerpoint/2010/main" val="1091751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D128-151F-13C3-615D-5BAF4576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15573FC3-9FD3-C100-8AFB-7C12BA0CF1B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439" y="1227659"/>
            <a:ext cx="8885121" cy="4402681"/>
          </a:xfrm>
        </p:spPr>
      </p:pic>
    </p:spTree>
    <p:extLst>
      <p:ext uri="{BB962C8B-B14F-4D97-AF65-F5344CB8AC3E}">
        <p14:creationId xmlns:p14="http://schemas.microsoft.com/office/powerpoint/2010/main" val="2585903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6114E-6A08-C5CB-BFD6-E0A28EAF8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2EDB3-A101-74BF-6EB5-E0828DD18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Exploratory Data Analysis →</a:t>
            </a:r>
          </a:p>
        </p:txBody>
      </p:sp>
    </p:spTree>
    <p:extLst>
      <p:ext uri="{BB962C8B-B14F-4D97-AF65-F5344CB8AC3E}">
        <p14:creationId xmlns:p14="http://schemas.microsoft.com/office/powerpoint/2010/main" val="563359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07D6D-98FB-EB5D-5F12-58EFBB9B9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4688FBC-3D1F-009A-25E9-7CA05E90F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86" y="467980"/>
            <a:ext cx="10653578" cy="699263"/>
          </a:xfrm>
        </p:spPr>
        <p:txBody>
          <a:bodyPr/>
          <a:lstStyle/>
          <a:p>
            <a:pPr algn="ctr"/>
            <a:r>
              <a:rPr lang="en-US" dirty="0"/>
              <a:t>Fields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A26DE46-AE50-753F-41F0-C908199779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3662081"/>
              </p:ext>
            </p:extLst>
          </p:nvPr>
        </p:nvGraphicFramePr>
        <p:xfrm>
          <a:off x="2582860" y="1460653"/>
          <a:ext cx="6612029" cy="3936693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531939">
                  <a:extLst>
                    <a:ext uri="{9D8B030D-6E8A-4147-A177-3AD203B41FA5}">
                      <a16:colId xmlns:a16="http://schemas.microsoft.com/office/drawing/2014/main" val="3168546316"/>
                    </a:ext>
                  </a:extLst>
                </a:gridCol>
                <a:gridCol w="1339702">
                  <a:extLst>
                    <a:ext uri="{9D8B030D-6E8A-4147-A177-3AD203B41FA5}">
                      <a16:colId xmlns:a16="http://schemas.microsoft.com/office/drawing/2014/main" val="3249273269"/>
                    </a:ext>
                  </a:extLst>
                </a:gridCol>
                <a:gridCol w="3740388">
                  <a:extLst>
                    <a:ext uri="{9D8B030D-6E8A-4147-A177-3AD203B41FA5}">
                      <a16:colId xmlns:a16="http://schemas.microsoft.com/office/drawing/2014/main" val="3338054882"/>
                    </a:ext>
                  </a:extLst>
                </a:gridCol>
              </a:tblGrid>
              <a:tr h="64485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Data 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Description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42311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FOLIO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object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Folio of parcel. Primary key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5944119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SITE_ZIP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Postal zip code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55586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tBEDS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beds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915844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tBATHS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baths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29506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tSTORIES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stories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509139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tUNITS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units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680973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tBLDGS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Number of buildings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3459096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HEAT_AR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Heating area in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sqft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3848906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ACREAGE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Acreage of lot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64257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LU_GRP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Generalized land use group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54088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S_YEAR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Sale year derived from sale date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059974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S_AMT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float64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Sale Amount. Response value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6977830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2803A60-C714-10F2-866D-B0679F31BE78}"/>
              </a:ext>
            </a:extLst>
          </p:cNvPr>
          <p:cNvSpPr txBox="1"/>
          <p:nvPr/>
        </p:nvSpPr>
        <p:spPr>
          <a:xfrm>
            <a:off x="1543143" y="5849050"/>
            <a:ext cx="9105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fields are represented as floats due to how these values are stored and permitted</a:t>
            </a:r>
          </a:p>
        </p:txBody>
      </p:sp>
    </p:spTree>
    <p:extLst>
      <p:ext uri="{BB962C8B-B14F-4D97-AF65-F5344CB8AC3E}">
        <p14:creationId xmlns:p14="http://schemas.microsoft.com/office/powerpoint/2010/main" val="2316409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E1A78-2049-977E-15CE-91F033AAD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F6B80-745A-ADCD-D06D-D9B87A77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30" y="444989"/>
            <a:ext cx="10992540" cy="714598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Evaluating Feature Relationships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DBDB29-DF92-2956-CF7A-617924416787}"/>
                  </a:ext>
                </a:extLst>
              </p:cNvPr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1352311" y="5411244"/>
                <a:ext cx="8600022" cy="1237017"/>
              </a:xfrm>
            </p:spPr>
            <p:txBody>
              <a:bodyPr>
                <a:normAutofit/>
              </a:bodyPr>
              <a:lstStyle/>
              <a:p>
                <a:r>
                  <a:rPr lang="en-US" sz="1400" b="1" dirty="0"/>
                  <a:t>Correlation</a:t>
                </a:r>
                <a:r>
                  <a:rPr lang="en-US" sz="1400" dirty="0"/>
                  <a:t>: There is a strong correlation between beds to baths (0.86) and stories to buildings (0.82), and all predictors have a weak correlation to sales price.</a:t>
                </a:r>
              </a:p>
              <a:p>
                <a:r>
                  <a:rPr lang="en-US" sz="1400" b="1" dirty="0"/>
                  <a:t>Multicollinearity</a:t>
                </a:r>
                <a:r>
                  <a:rPr lang="en-US" sz="1400" dirty="0"/>
                  <a:t>: No predictors have a high Variance Influence Factor (VIF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400" dirty="0"/>
                  <a:t>10) while the # stories and # beds have a moderate VIF.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CDBDB29-DF92-2956-CF7A-6179244167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1352311" y="5411244"/>
                <a:ext cx="8600022" cy="1237017"/>
              </a:xfrm>
              <a:blipFill>
                <a:blip r:embed="rId2"/>
                <a:stretch>
                  <a:fillRect l="-147" r="-295"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63784733-191C-5B2E-C624-A5D2DB872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591" y="1768836"/>
            <a:ext cx="4186731" cy="34797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3E19D3F-7635-C17E-4DA3-056707271A51}"/>
              </a:ext>
            </a:extLst>
          </p:cNvPr>
          <p:cNvSpPr txBox="1"/>
          <p:nvPr/>
        </p:nvSpPr>
        <p:spPr>
          <a:xfrm>
            <a:off x="2843054" y="1399503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Correlation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825A1-92EE-2A92-0E54-60A3268FC95F}"/>
              </a:ext>
            </a:extLst>
          </p:cNvPr>
          <p:cNvSpPr txBox="1"/>
          <p:nvPr/>
        </p:nvSpPr>
        <p:spPr>
          <a:xfrm>
            <a:off x="7504725" y="1399503"/>
            <a:ext cx="1914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Multicollinearity</a:t>
            </a:r>
          </a:p>
        </p:txBody>
      </p:sp>
      <p:graphicFrame>
        <p:nvGraphicFramePr>
          <p:cNvPr id="3" name="Content Placeholder 6">
            <a:extLst>
              <a:ext uri="{FF2B5EF4-FFF2-40B4-BE49-F238E27FC236}">
                <a16:creationId xmlns:a16="http://schemas.microsoft.com/office/drawing/2014/main" id="{E3911DD1-1142-B8DD-A4F8-700523F5F0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066918"/>
              </p:ext>
            </p:extLst>
          </p:nvPr>
        </p:nvGraphicFramePr>
        <p:xfrm>
          <a:off x="7288615" y="1813805"/>
          <a:ext cx="2346525" cy="30837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177292">
                  <a:extLst>
                    <a:ext uri="{9D8B030D-6E8A-4147-A177-3AD203B41FA5}">
                      <a16:colId xmlns:a16="http://schemas.microsoft.com/office/drawing/2014/main" val="3168546316"/>
                    </a:ext>
                  </a:extLst>
                </a:gridCol>
                <a:gridCol w="1169233">
                  <a:extLst>
                    <a:ext uri="{9D8B030D-6E8A-4147-A177-3AD203B41FA5}">
                      <a16:colId xmlns:a16="http://schemas.microsoft.com/office/drawing/2014/main" val="3249273269"/>
                    </a:ext>
                  </a:extLst>
                </a:gridCol>
              </a:tblGrid>
              <a:tr h="52342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Feature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VIF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423117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tSTORIES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6.24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594411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tBEDS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5.03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55586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tBATHS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915844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const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4.20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295061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tBLDGS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4.04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50913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HEAT_AR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680973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tUNITS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236765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ACREAGE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9269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6980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DD4ADB1-1175-8891-CC64-93014006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87" y="685784"/>
            <a:ext cx="10653578" cy="699263"/>
          </a:xfrm>
        </p:spPr>
        <p:txBody>
          <a:bodyPr/>
          <a:lstStyle/>
          <a:p>
            <a:pPr algn="ctr"/>
            <a:r>
              <a:rPr lang="en-US" dirty="0"/>
              <a:t>Number of Sales by Land Use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9780BEB-FFD1-3971-F361-1B40A8D668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1388077"/>
              </p:ext>
            </p:extLst>
          </p:nvPr>
        </p:nvGraphicFramePr>
        <p:xfrm>
          <a:off x="1543143" y="1737347"/>
          <a:ext cx="9105713" cy="3614583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303807">
                  <a:extLst>
                    <a:ext uri="{9D8B030D-6E8A-4147-A177-3AD203B41FA5}">
                      <a16:colId xmlns:a16="http://schemas.microsoft.com/office/drawing/2014/main" val="3168546316"/>
                    </a:ext>
                  </a:extLst>
                </a:gridCol>
                <a:gridCol w="1021976">
                  <a:extLst>
                    <a:ext uri="{9D8B030D-6E8A-4147-A177-3AD203B41FA5}">
                      <a16:colId xmlns:a16="http://schemas.microsoft.com/office/drawing/2014/main" val="3249273269"/>
                    </a:ext>
                  </a:extLst>
                </a:gridCol>
                <a:gridCol w="779930">
                  <a:extLst>
                    <a:ext uri="{9D8B030D-6E8A-4147-A177-3AD203B41FA5}">
                      <a16:colId xmlns:a16="http://schemas.microsoft.com/office/drawing/2014/main" val="3338054882"/>
                    </a:ext>
                  </a:extLst>
                </a:gridCol>
              </a:tblGrid>
              <a:tr h="64485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Land Use Group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%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64231172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SINGLE FAMILY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1,811,627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76.99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59441191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MULTI-FAMILY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241,635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10.27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5558636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 RESIDENT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70,837 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9158448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MOBILE HOMES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62,889 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2.67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42950618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COMM./OFFICE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35,423 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5091396"/>
                  </a:ext>
                </a:extLst>
              </a:tr>
              <a:tr h="409161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OTHER: </a:t>
                      </a:r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(INVALID CODE, AGRICULTURAL, GOVERNMENT, STORE/SHP CENTE, INSTITUTIONAL, LIGHT INDUS., VACANT COMM., VACANT TOWNHOME, UTILITY, R/W, OFFICE CONDO, SCHOOLS/COLLEGE, VACANT INDUS., HEAVY INDUS., MEDICAL OFFICE CONDO, APT CONDO, COMMERCIAL, INDUSTRAL CONDO, CHURCH PARSONAGES, COOPERATIVE, 1 STY STORE CONDO, VACANT MH/COOP, SFR BLD ARND MH, MINING, MARINAS, CEMETERY, PRIVATE GC, SEMI PRIVATE GC, LANDSCAPE/WALL BUFFER, PARKS, HOA COMMERCIAL, EXEC/PRACTICE GC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130,731 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5.56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68097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57C7A45-8349-BEB9-0A47-75917B2A80D9}"/>
              </a:ext>
            </a:extLst>
          </p:cNvPr>
          <p:cNvSpPr txBox="1"/>
          <p:nvPr/>
        </p:nvSpPr>
        <p:spPr>
          <a:xfrm>
            <a:off x="1543143" y="5704230"/>
            <a:ext cx="9105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vast majority of property sales are residential. </a:t>
            </a:r>
            <a:r>
              <a:rPr lang="en-US" b="1" dirty="0"/>
              <a:t>Focusing the analysis on single-family and multi-family</a:t>
            </a:r>
            <a:r>
              <a:rPr lang="en-US" dirty="0"/>
              <a:t> properties helps reduce potential bias from the imbalance in property types.</a:t>
            </a:r>
          </a:p>
        </p:txBody>
      </p:sp>
    </p:spTree>
    <p:extLst>
      <p:ext uri="{BB962C8B-B14F-4D97-AF65-F5344CB8AC3E}">
        <p14:creationId xmlns:p14="http://schemas.microsoft.com/office/powerpoint/2010/main" val="1135043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76FD3-9C34-216C-B531-F1AE6F05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A5EA-3685-67AD-FBD9-92BFBF519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30" y="444989"/>
            <a:ext cx="10992540" cy="714598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Sales Distribution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9F08B-9336-35AA-6AC2-002E60E62B6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52311" y="5816184"/>
            <a:ext cx="8600022" cy="832077"/>
          </a:xfrm>
        </p:spPr>
        <p:txBody>
          <a:bodyPr>
            <a:normAutofit lnSpcReduction="10000"/>
          </a:bodyPr>
          <a:lstStyle/>
          <a:p>
            <a:r>
              <a:rPr lang="en-US" sz="1400" dirty="0"/>
              <a:t>Proper records for sales data starts around 1970 and shows a dip in 2008 during the housing market crash. Analyzing </a:t>
            </a:r>
            <a:r>
              <a:rPr lang="en-US" sz="1400" b="1" dirty="0"/>
              <a:t>2014-2024</a:t>
            </a:r>
            <a:r>
              <a:rPr lang="en-US" sz="1400" dirty="0"/>
              <a:t> years</a:t>
            </a:r>
            <a:r>
              <a:rPr lang="en-US" sz="1400" b="1" dirty="0"/>
              <a:t> </a:t>
            </a:r>
            <a:r>
              <a:rPr lang="en-US" sz="1400" dirty="0"/>
              <a:t>has enough data to establish trends, avoids the housing market crash and missing or incomplete months of data.</a:t>
            </a:r>
          </a:p>
        </p:txBody>
      </p:sp>
      <p:pic>
        <p:nvPicPr>
          <p:cNvPr id="5" name="Picture 4" descr="A graph of sales&#10;&#10;AI-generated content may be incorrect.">
            <a:extLst>
              <a:ext uri="{FF2B5EF4-FFF2-40B4-BE49-F238E27FC236}">
                <a16:creationId xmlns:a16="http://schemas.microsoft.com/office/drawing/2014/main" id="{158950B9-0335-FB56-3AFF-8BEF6A2DF1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122" y="1123627"/>
            <a:ext cx="7772400" cy="461074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7FEC338-1CB7-D0C0-8FEB-FC389C3813EB}"/>
              </a:ext>
            </a:extLst>
          </p:cNvPr>
          <p:cNvSpPr/>
          <p:nvPr/>
        </p:nvSpPr>
        <p:spPr>
          <a:xfrm>
            <a:off x="8747954" y="1838225"/>
            <a:ext cx="663959" cy="329289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120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48A95-1DC7-2597-DC69-30D5FCBAB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D7CF2-11EA-CB68-D17F-2B2907486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4"/>
            <a:ext cx="6796553" cy="705298"/>
          </a:xfrm>
        </p:spPr>
        <p:txBody>
          <a:bodyPr/>
          <a:lstStyle/>
          <a:p>
            <a:r>
              <a:rPr lang="en-US" dirty="0"/>
              <a:t>Outlier Detection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8F8F2D-2F10-1104-1079-35239C0FA48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1553228"/>
            <a:ext cx="6796553" cy="4810996"/>
          </a:xfrm>
        </p:spPr>
        <p:txBody>
          <a:bodyPr>
            <a:normAutofit lnSpcReduction="10000"/>
          </a:bodyPr>
          <a:lstStyle/>
          <a:p>
            <a:r>
              <a:rPr lang="en-US" sz="1600" b="1" dirty="0"/>
              <a:t>Isolation Forest </a:t>
            </a:r>
            <a:r>
              <a:rPr lang="en-US" sz="1600" dirty="0"/>
              <a:t>was used due to its scalability and high-dimensionality and hyper-tuned to find the best hyper-parameters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contamination = 0.025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n_estimators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max_sample_size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256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r>
              <a:rPr lang="en-US" sz="1600" dirty="0"/>
              <a:t>Heating area (ft</a:t>
            </a:r>
            <a:r>
              <a:rPr lang="en-US" sz="1600" baseline="30000" dirty="0"/>
              <a:t>2</a:t>
            </a:r>
            <a:r>
              <a:rPr lang="en-US" sz="1600" dirty="0"/>
              <a:t>) was used for comparison to graphically represent the outlier/inlier relationships and trends</a:t>
            </a:r>
          </a:p>
          <a:p>
            <a:endParaRPr lang="en-US" sz="1600" dirty="0"/>
          </a:p>
          <a:p>
            <a:r>
              <a:rPr lang="en-US" sz="1600" dirty="0"/>
              <a:t>~11,000 data points removed from 2014–2024 on the </a:t>
            </a:r>
            <a:r>
              <a:rPr lang="en-US" sz="1600" b="1" dirty="0">
                <a:solidFill>
                  <a:srgbClr val="FF0000"/>
                </a:solidFill>
              </a:rPr>
              <a:t>Outliers</a:t>
            </a:r>
            <a:r>
              <a:rPr lang="en-US" sz="1600" dirty="0"/>
              <a:t> plot</a:t>
            </a:r>
          </a:p>
          <a:p>
            <a:endParaRPr lang="en-US" sz="1600" dirty="0"/>
          </a:p>
          <a:p>
            <a:r>
              <a:rPr lang="en-US" sz="1600" dirty="0"/>
              <a:t>Captured both sentinel values in the lower tail and extreme high-value properties in the upper tail as shown in the </a:t>
            </a:r>
            <a:r>
              <a:rPr lang="en-US" sz="1600" b="1" dirty="0">
                <a:solidFill>
                  <a:srgbClr val="808080"/>
                </a:solidFill>
              </a:rPr>
              <a:t>All Points </a:t>
            </a:r>
            <a:r>
              <a:rPr lang="en-US" sz="1600" dirty="0"/>
              <a:t>plot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8A56A-0DA6-2F2B-F52E-16D65BCCF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430" y="529726"/>
            <a:ext cx="4355114" cy="6116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727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80F871-06D7-817D-6DB4-C25BD1106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5" descr="A close-up of a spiral">
            <a:extLst>
              <a:ext uri="{FF2B5EF4-FFF2-40B4-BE49-F238E27FC236}">
                <a16:creationId xmlns:a16="http://schemas.microsoft.com/office/drawing/2014/main" id="{FCC4C6FE-F7B0-A699-70F9-8AC8A7745F3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" t="-1" r="-3" b="15688"/>
          <a:stretch/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CD0B35-C6FE-DF08-89C7-248CDCE9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111553"/>
            <a:ext cx="7525512" cy="790231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data size for 10 years of residential sales without sentinel points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8A0AF-04B1-AA35-48F2-79DAC62193B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8680" y="2971297"/>
            <a:ext cx="10543032" cy="915406"/>
          </a:xfrm>
        </p:spPr>
        <p:txBody>
          <a:bodyPr/>
          <a:lstStyle/>
          <a:p>
            <a:r>
              <a:rPr lang="en-US" sz="5400" b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sz="5400" b="0" i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f.shape</a:t>
            </a:r>
            <a:r>
              <a:rPr lang="en-US" sz="5400" b="0" i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== (425914, 12)</a:t>
            </a:r>
            <a:endParaRPr lang="en-US" sz="54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510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CFAF2-60FC-5220-035F-38C998988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C4684-AC03-A8AE-A0CF-6111EC59BF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/>
          <a:lstStyle/>
          <a:p>
            <a:r>
              <a:rPr lang="en-US" dirty="0"/>
              <a:t>What’s Next →</a:t>
            </a:r>
          </a:p>
        </p:txBody>
      </p:sp>
    </p:spTree>
    <p:extLst>
      <p:ext uri="{BB962C8B-B14F-4D97-AF65-F5344CB8AC3E}">
        <p14:creationId xmlns:p14="http://schemas.microsoft.com/office/powerpoint/2010/main" val="884706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53E0-3901-B17A-F4FD-B83343C8F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09AD7-F13E-D780-F1AE-5100AB41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3"/>
            <a:ext cx="6796553" cy="1468815"/>
          </a:xfrm>
        </p:spPr>
        <p:txBody>
          <a:bodyPr/>
          <a:lstStyle/>
          <a:p>
            <a:r>
              <a:rPr lang="en-US" dirty="0"/>
              <a:t>Model Training</a:t>
            </a:r>
          </a:p>
        </p:txBody>
      </p:sp>
      <p:pic>
        <p:nvPicPr>
          <p:cNvPr id="6" name="Picture Placeholder 5" descr="A close-up of a spiral">
            <a:extLst>
              <a:ext uri="{FF2B5EF4-FFF2-40B4-BE49-F238E27FC236}">
                <a16:creationId xmlns:a16="http://schemas.microsoft.com/office/drawing/2014/main" id="{CB1642D6-2DF2-194B-D001-A5B6AA2A466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863" r="29863"/>
          <a:stretch/>
        </p:blipFill>
        <p:spPr>
          <a:xfrm>
            <a:off x="535580" y="647514"/>
            <a:ext cx="3749041" cy="6210487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0580B-FF89-4735-F186-7AC9E148D76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2472266"/>
            <a:ext cx="6796553" cy="3891957"/>
          </a:xfrm>
        </p:spPr>
        <p:txBody>
          <a:bodyPr>
            <a:normAutofit/>
          </a:bodyPr>
          <a:lstStyle/>
          <a:p>
            <a:r>
              <a:rPr lang="en-US" sz="1400" b="1" dirty="0"/>
              <a:t>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Train the training data using linear regression, elastic net, random forest, gradient boosting, and artificial neural network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Based on research, gradient boosting will likely perform the best</a:t>
            </a:r>
          </a:p>
          <a:p>
            <a:r>
              <a:rPr lang="en-US" sz="1400" b="1" dirty="0"/>
              <a:t>Model Selection and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Compare performance metrics (RMSE, MSE, R</a:t>
            </a:r>
            <a:r>
              <a:rPr lang="en-US" sz="1400" baseline="30000" dirty="0"/>
              <a:t>2</a:t>
            </a:r>
            <a:r>
              <a:rPr lang="en-US" sz="1400" dirty="0"/>
              <a:t>, AIC) and select the model with the lowest cross-validation error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Fit the best model to the testing subset to assess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1697266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2619F37-723B-00F0-1CD9-21C3C9488B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8532" y="5319551"/>
            <a:ext cx="3369023" cy="7863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5" name="Picture Placeholder 4" descr="A close-up of a network">
            <a:extLst>
              <a:ext uri="{FF2B5EF4-FFF2-40B4-BE49-F238E27FC236}">
                <a16:creationId xmlns:a16="http://schemas.microsoft.com/office/drawing/2014/main" id="{1C3420C8-E71D-2DEF-C553-090F74B4D660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252" b="3252"/>
          <a:stretch/>
        </p:blipFill>
        <p:spPr>
          <a:xfrm>
            <a:off x="0" y="599361"/>
            <a:ext cx="11001375" cy="4114800"/>
          </a:xfr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F5B5EAB-FA47-D281-ACEE-7017AB2503D2}"/>
              </a:ext>
            </a:extLst>
          </p:cNvPr>
          <p:cNvGrpSpPr/>
          <p:nvPr/>
        </p:nvGrpSpPr>
        <p:grpSpPr>
          <a:xfrm>
            <a:off x="351792" y="4799246"/>
            <a:ext cx="2470548" cy="1801633"/>
            <a:chOff x="328533" y="4888664"/>
            <a:chExt cx="2307205" cy="1801633"/>
          </a:xfrm>
        </p:grpSpPr>
        <p:pic>
          <p:nvPicPr>
            <p:cNvPr id="4" name="Picture 3" descr="A black and white image of a cat in a circle&#10;&#10;AI-generated content may be incorrect.">
              <a:hlinkClick r:id="rId4"/>
              <a:extLst>
                <a:ext uri="{FF2B5EF4-FFF2-40B4-BE49-F238E27FC236}">
                  <a16:creationId xmlns:a16="http://schemas.microsoft.com/office/drawing/2014/main" id="{B3154BBE-C365-698E-C341-8F4F67F07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2106" y="5268627"/>
              <a:ext cx="1160060" cy="116006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623607-D91A-8F6E-6C30-A9F761C99CC7}"/>
                </a:ext>
              </a:extLst>
            </p:cNvPr>
            <p:cNvSpPr txBox="1"/>
            <p:nvPr/>
          </p:nvSpPr>
          <p:spPr>
            <a:xfrm>
              <a:off x="701313" y="4888664"/>
              <a:ext cx="156164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/>
                <a:t>Scan or Click for </a:t>
              </a:r>
            </a:p>
            <a:p>
              <a:pPr algn="ctr"/>
              <a:r>
                <a:rPr lang="en-US" sz="1100" dirty="0"/>
                <a:t>the project’s GitHub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8082F2-7F44-FB99-13CC-FA4AA64012B0}"/>
                </a:ext>
              </a:extLst>
            </p:cNvPr>
            <p:cNvSpPr txBox="1"/>
            <p:nvPr/>
          </p:nvSpPr>
          <p:spPr>
            <a:xfrm>
              <a:off x="328533" y="6428687"/>
              <a:ext cx="230720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hlinkClick r:id="rId4"/>
                </a:rPr>
                <a:t>github.com/bofethe/parcel-sales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93201794"/>
      </p:ext>
    </p:extLst>
  </p:cSld>
  <p:clrMapOvr>
    <a:masterClrMapping/>
  </p:clrMapOvr>
</p:sld>
</file>

<file path=ppt/theme/theme1.xml><?xml version="1.0" encoding="utf-8"?>
<a:theme xmlns:a="http://schemas.openxmlformats.org/drawingml/2006/main" name="Sleek Blue">
  <a:themeElements>
    <a:clrScheme name="Sleek Blue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3B43D7"/>
      </a:accent1>
      <a:accent2>
        <a:srgbClr val="819CEA"/>
      </a:accent2>
      <a:accent3>
        <a:srgbClr val="D17DEA"/>
      </a:accent3>
      <a:accent4>
        <a:srgbClr val="B0D016"/>
      </a:accent4>
      <a:accent5>
        <a:srgbClr val="E0ED79"/>
      </a:accent5>
      <a:accent6>
        <a:srgbClr val="ED4007"/>
      </a:accent6>
      <a:hlink>
        <a:srgbClr val="467886"/>
      </a:hlink>
      <a:folHlink>
        <a:srgbClr val="96607D"/>
      </a:folHlink>
    </a:clrScheme>
    <a:fontScheme name="Custom 12">
      <a:majorFont>
        <a:latin typeface="Raleway Medium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eek Blue_Finance_win32_EF_v3" id="{27365B25-6984-4000-9C02-6DCA100ED127}" vid="{66FB4534-C562-46C7-916B-576895C253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3D3C292-02F4-47E7-8C9A-CA6D9A938157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7DD590A-8042-4F36-843F-743A8DB178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4B9AF2-5B11-48FF-A8A8-964B2D972562}">
  <ds:schemaRefs>
    <ds:schemaRef ds:uri="230e9df3-be65-4c73-a93b-d1236ebd677e"/>
    <ds:schemaRef ds:uri="http://www.w3.org/XML/1998/namespace"/>
    <ds:schemaRef ds:uri="http://schemas.microsoft.com/sharepoint/v3"/>
    <ds:schemaRef ds:uri="http://purl.org/dc/dcmitype/"/>
    <ds:schemaRef ds:uri="http://schemas.microsoft.com/office/2006/documentManagement/types"/>
    <ds:schemaRef ds:uri="http://schemas.microsoft.com/office/infopath/2007/PartnerControls"/>
    <ds:schemaRef ds:uri="16c05727-aa75-4e4a-9b5f-8a80a1165891"/>
    <ds:schemaRef ds:uri="http://schemas.openxmlformats.org/package/2006/metadata/core-properties"/>
    <ds:schemaRef ds:uri="http://purl.org/dc/elements/1.1/"/>
    <ds:schemaRef ds:uri="71af3243-3dd4-4a8d-8c0d-dd76da1f02a5"/>
    <ds:schemaRef ds:uri="http://schemas.microsoft.com/office/2006/metadata/properties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4224</TotalTime>
  <Words>1114</Words>
  <Application>Microsoft Macintosh PowerPoint</Application>
  <PresentationFormat>Widescreen</PresentationFormat>
  <Paragraphs>178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Aptos Narrow</vt:lpstr>
      <vt:lpstr>Arial</vt:lpstr>
      <vt:lpstr>Cambria Math</vt:lpstr>
      <vt:lpstr>Century Gothic</vt:lpstr>
      <vt:lpstr>Courier New</vt:lpstr>
      <vt:lpstr>Raleway</vt:lpstr>
      <vt:lpstr>Raleway Medium</vt:lpstr>
      <vt:lpstr>Sleek Blue</vt:lpstr>
      <vt:lpstr>Hillsborough County Parcel Sales Prediction</vt:lpstr>
      <vt:lpstr>Purpose </vt:lpstr>
      <vt:lpstr>Background →</vt:lpstr>
      <vt:lpstr>Current Problems</vt:lpstr>
      <vt:lpstr>Data Sources</vt:lpstr>
      <vt:lpstr>Key Studies in Real Estate Price Prediction</vt:lpstr>
      <vt:lpstr>Methodology →</vt:lpstr>
      <vt:lpstr>Data Engineering Pipeline</vt:lpstr>
      <vt:lpstr>Analytics and Modeling Approach</vt:lpstr>
      <vt:lpstr>PowerPoint Presentation</vt:lpstr>
      <vt:lpstr>Exploratory Data Analysis →</vt:lpstr>
      <vt:lpstr>Fields</vt:lpstr>
      <vt:lpstr>Evaluating Feature Relationships</vt:lpstr>
      <vt:lpstr>Number of Sales by Land Use</vt:lpstr>
      <vt:lpstr>Sales Distribution</vt:lpstr>
      <vt:lpstr>Outlier Detection</vt:lpstr>
      <vt:lpstr>Final data size for 10 years of residential sales without sentinel points </vt:lpstr>
      <vt:lpstr>What’s Next →</vt:lpstr>
      <vt:lpstr>Model Training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Fethe, Bo J</cp:lastModifiedBy>
  <cp:revision>11</cp:revision>
  <dcterms:created xsi:type="dcterms:W3CDTF">2024-06-26T20:20:27Z</dcterms:created>
  <dcterms:modified xsi:type="dcterms:W3CDTF">2025-06-11T03:01:07Z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