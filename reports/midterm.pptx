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31"/>
  </p:notesMasterIdLst>
  <p:handoutMasterIdLst>
    <p:handoutMasterId r:id="rId32"/>
  </p:handoutMasterIdLst>
  <p:sldIdLst>
    <p:sldId id="1519" r:id="rId5"/>
    <p:sldId id="1520" r:id="rId6"/>
    <p:sldId id="1499" r:id="rId7"/>
    <p:sldId id="1521" r:id="rId8"/>
    <p:sldId id="1526" r:id="rId9"/>
    <p:sldId id="1522" r:id="rId10"/>
    <p:sldId id="1530" r:id="rId11"/>
    <p:sldId id="1524" r:id="rId12"/>
    <p:sldId id="1536" r:id="rId13"/>
    <p:sldId id="1538" r:id="rId14"/>
    <p:sldId id="1531" r:id="rId15"/>
    <p:sldId id="1537" r:id="rId16"/>
    <p:sldId id="1534" r:id="rId17"/>
    <p:sldId id="1506" r:id="rId18"/>
    <p:sldId id="1539" r:id="rId19"/>
    <p:sldId id="1540" r:id="rId20"/>
    <p:sldId id="1532" r:id="rId21"/>
    <p:sldId id="1529" r:id="rId22"/>
    <p:sldId id="1541" r:id="rId23"/>
    <p:sldId id="1502" r:id="rId24"/>
    <p:sldId id="1535" r:id="rId25"/>
    <p:sldId id="1525" r:id="rId26"/>
    <p:sldId id="1516" r:id="rId27"/>
    <p:sldId id="1518" r:id="rId28"/>
    <p:sldId id="1528" r:id="rId29"/>
    <p:sldId id="154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0808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/>
    <p:restoredTop sz="94704"/>
  </p:normalViewPr>
  <p:slideViewPr>
    <p:cSldViewPr snapToGrid="0">
      <p:cViewPr>
        <p:scale>
          <a:sx n="85" d="100"/>
          <a:sy n="85" d="100"/>
        </p:scale>
        <p:origin x="544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9D005A-EF78-4DC8-A9B0-7B54127FABB3}" type="doc">
      <dgm:prSet loTypeId="urn:microsoft.com/office/officeart/2024/3/layout/ArchList1#2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6C0E93-31C2-4367-9734-22A77E91F852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 kern="1200" dirty="0" err="1">
              <a:solidFill>
                <a:srgbClr val="FFFFFF"/>
              </a:solidFill>
              <a:latin typeface="+mn-lt"/>
              <a:ea typeface="+mn-ea"/>
              <a:cs typeface="+mn-cs"/>
            </a:rPr>
            <a:t>XGBoost</a:t>
          </a:r>
          <a:r>
            <a: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rPr>
            <a:t> performed the best, but had struggled with overfitting on small samples</a:t>
          </a:r>
          <a:endParaRPr lang="en-US" sz="2000" b="1" kern="1200" dirty="0">
            <a:solidFill>
              <a:srgbClr val="FFFFFF"/>
            </a:solidFill>
            <a:latin typeface="+mn-lt"/>
            <a:ea typeface="+mn-ea"/>
            <a:cs typeface="+mn-cs"/>
          </a:endParaRPr>
        </a:p>
      </dgm:t>
    </dgm:pt>
    <dgm:pt modelId="{8C6185DB-C15F-4142-9FFC-06798EBB4FD3}" type="parTrans" cxnId="{380048F8-519C-4DF3-983E-65F199CAF07C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57C15597-8730-4C5E-950A-E3E94A8A5729}" type="sibTrans" cxnId="{380048F8-519C-4DF3-983E-65F199CAF07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>
            <a:solidFill>
              <a:schemeClr val="bg1"/>
            </a:solidFill>
            <a:latin typeface="+mn-lt"/>
          </a:endParaRPr>
        </a:p>
      </dgm:t>
    </dgm:pt>
    <dgm:pt modelId="{5DC4A6D3-8F5B-462C-98E5-9DBA04B5F5C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kern="1200" dirty="0">
              <a:solidFill>
                <a:srgbClr val="FFFFFF"/>
              </a:solidFill>
              <a:latin typeface="+mn-lt"/>
              <a:ea typeface="+mn-ea"/>
              <a:cs typeface="+mn-cs"/>
            </a:rPr>
            <a:t>Predicting Sales Prices of the Houses Using </a:t>
          </a:r>
          <a:r>
            <a:rPr lang="en-US" sz="1400" b="0" kern="1200" dirty="0">
              <a:solidFill>
                <a:srgbClr val="FFFFFF"/>
              </a:solidFill>
              <a:latin typeface="Century Gothic"/>
              <a:ea typeface="+mn-ea"/>
              <a:cs typeface="+mn-cs"/>
            </a:rPr>
            <a:t>Regression Methods of Machine Learning. Viktorovich (2018)</a:t>
          </a:r>
          <a:r>
            <a:rPr lang="en-US" sz="1400" i="1" kern="1200" dirty="0"/>
            <a:t>,</a:t>
          </a:r>
          <a:endParaRPr lang="en-US" sz="1400" b="0" kern="1200" dirty="0">
            <a:solidFill>
              <a:srgbClr val="FFFFFF"/>
            </a:solidFill>
            <a:latin typeface="+mn-lt"/>
            <a:ea typeface="+mn-ea"/>
            <a:cs typeface="+mn-cs"/>
          </a:endParaRPr>
        </a:p>
      </dgm:t>
    </dgm:pt>
    <dgm:pt modelId="{05AC1DA1-5915-400C-AA8A-59903F7D8430}" type="parTrans" cxnId="{B8CDC488-4F8D-4EF9-86AB-BC5EDA02D830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EBE04370-C115-496A-829B-022F025D9929}" type="sibTrans" cxnId="{B8CDC488-4F8D-4EF9-86AB-BC5EDA02D830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6683C677-89E1-4E18-8444-F8D0F9174767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 dirty="0">
              <a:solidFill>
                <a:schemeClr val="bg1"/>
              </a:solidFill>
              <a:latin typeface="+mn-lt"/>
            </a:rPr>
            <a:t>ANN and Random Forest outperformed hedonic methods </a:t>
          </a:r>
        </a:p>
      </dgm:t>
    </dgm:pt>
    <dgm:pt modelId="{9096D71F-9713-469B-ACE6-161111FE9A54}" type="parTrans" cxnId="{56C8B87E-0F96-4F20-8345-3069AB024E9E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09D8EA0C-EED3-4BB1-8AEF-7CFB760A7162}" type="sibTrans" cxnId="{56C8B87E-0F96-4F20-8345-3069AB024E9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>
            <a:solidFill>
              <a:schemeClr val="bg1"/>
            </a:solidFill>
            <a:latin typeface="+mn-lt"/>
          </a:endParaRPr>
        </a:p>
      </dgm:t>
    </dgm:pt>
    <dgm:pt modelId="{56734F44-9D7F-4CFB-9CBD-E0EEABC32D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>
              <a:solidFill>
                <a:schemeClr val="bg1"/>
              </a:solidFill>
              <a:latin typeface="+mn-lt"/>
            </a:rPr>
            <a:t>Machine Learning, Deep Learning, and Hedonic Methods for Real Estate Price Prediction. Yazdani (2021)  </a:t>
          </a:r>
        </a:p>
      </dgm:t>
    </dgm:pt>
    <dgm:pt modelId="{A3AD6FCC-E4F5-46B4-B004-A23AC5C6F65B}" type="parTrans" cxnId="{BF038F71-DD3A-456F-94B1-E4A5F6A7590E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9C036100-254F-47F6-B01F-1758F7BB772A}" type="sibTrans" cxnId="{BF038F71-DD3A-456F-94B1-E4A5F6A7590E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1DD03B1B-225F-4F59-88E9-6E12FADD869B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000" kern="1200" dirty="0">
              <a:solidFill>
                <a:schemeClr val="bg1"/>
              </a:solidFill>
              <a:latin typeface="+mn-lt"/>
            </a:rPr>
            <a:t>Machine learning models outperformed traditional linear models, particularly boosting algorithms</a:t>
          </a:r>
          <a:endParaRPr lang="en-US" sz="2000" b="1" kern="1200" dirty="0">
            <a:solidFill>
              <a:srgbClr val="FFFFFF"/>
            </a:solidFill>
            <a:latin typeface="Century Gothic"/>
            <a:ea typeface="+mn-ea"/>
            <a:cs typeface="+mn-cs"/>
          </a:endParaRPr>
        </a:p>
      </dgm:t>
    </dgm:pt>
    <dgm:pt modelId="{FE2FFDD7-EC33-4C15-918C-5DE14D4351F6}" type="parTrans" cxnId="{3651E0FD-E66F-4F72-99C5-BD809EC3C96C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36F1427C-26E2-4129-AD15-F3263C896B71}" type="sibTrans" cxnId="{3651E0FD-E66F-4F72-99C5-BD809EC3C96C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F6C60737-054A-4D4C-890B-C348D450576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kern="1200" dirty="0">
              <a:solidFill>
                <a:srgbClr val="FFFFFF"/>
              </a:solidFill>
              <a:latin typeface="Century Gothic"/>
              <a:ea typeface="+mn-ea"/>
              <a:cs typeface="+mn-cs"/>
            </a:rPr>
            <a:t>Housing Price Prediction Using Machine Learning Algorithms in COVID-19 Times. Mora-Garcia (2022)</a:t>
          </a:r>
        </a:p>
      </dgm:t>
    </dgm:pt>
    <dgm:pt modelId="{AD74D646-4FE6-49CB-B06E-B0BEE753FD5B}" type="parTrans" cxnId="{6193C484-8ABE-4C8E-BC1B-11825138E8E6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33DDF299-F25D-43EA-B386-54F6148ECB5B}" type="sibTrans" cxnId="{6193C484-8ABE-4C8E-BC1B-11825138E8E6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439189D0-7625-4BFC-AE7F-D155DAEB60E0}" type="pres">
      <dgm:prSet presAssocID="{F79D005A-EF78-4DC8-A9B0-7B54127FABB3}" presName="Name0" presStyleCnt="0">
        <dgm:presLayoutVars>
          <dgm:dir/>
          <dgm:resizeHandles val="exact"/>
        </dgm:presLayoutVars>
      </dgm:prSet>
      <dgm:spPr/>
    </dgm:pt>
    <dgm:pt modelId="{427D038D-8874-450F-AD39-DCA5940C79C2}" type="pres">
      <dgm:prSet presAssocID="{5C6C0E93-31C2-4367-9734-22A77E91F852}" presName="compNode" presStyleCnt="0"/>
      <dgm:spPr/>
    </dgm:pt>
    <dgm:pt modelId="{C046629B-369E-4F2D-9BA1-5E3C2DFD91CF}" type="pres">
      <dgm:prSet presAssocID="{5C6C0E93-31C2-4367-9734-22A77E91F852}" presName="pictRect" presStyleLbl="revTx" presStyleIdx="0" presStyleCnt="6">
        <dgm:presLayoutVars>
          <dgm:chMax val="0"/>
          <dgm:bulletEnabled/>
        </dgm:presLayoutVars>
      </dgm:prSet>
      <dgm:spPr/>
    </dgm:pt>
    <dgm:pt modelId="{922F7867-BAA8-4280-885B-E9A3B540D23F}" type="pres">
      <dgm:prSet presAssocID="{5C6C0E93-31C2-4367-9734-22A77E91F852}" presName="textRect" presStyleLbl="revTx" presStyleIdx="1" presStyleCnt="6" custScaleY="71562" custLinFactNeighborY="3157">
        <dgm:presLayoutVars>
          <dgm:bulletEnabled/>
        </dgm:presLayoutVars>
      </dgm:prSet>
      <dgm:spPr/>
    </dgm:pt>
    <dgm:pt modelId="{5B9D68AB-F95F-4888-AF28-C7B8CC572246}" type="pres">
      <dgm:prSet presAssocID="{57C15597-8730-4C5E-950A-E3E94A8A5729}" presName="sibTrans" presStyleLbl="sibTrans2D1" presStyleIdx="0" presStyleCnt="0"/>
      <dgm:spPr/>
    </dgm:pt>
    <dgm:pt modelId="{48C5B127-2DFE-4CE5-9384-32D732EE91F1}" type="pres">
      <dgm:prSet presAssocID="{6683C677-89E1-4E18-8444-F8D0F9174767}" presName="compNode" presStyleCnt="0"/>
      <dgm:spPr/>
    </dgm:pt>
    <dgm:pt modelId="{149E8246-107E-446D-83A2-2619E61A535F}" type="pres">
      <dgm:prSet presAssocID="{6683C677-89E1-4E18-8444-F8D0F9174767}" presName="pictRect" presStyleLbl="revTx" presStyleIdx="2" presStyleCnt="6">
        <dgm:presLayoutVars>
          <dgm:chMax val="0"/>
          <dgm:bulletEnabled/>
        </dgm:presLayoutVars>
      </dgm:prSet>
      <dgm:spPr/>
    </dgm:pt>
    <dgm:pt modelId="{8EE598D4-3436-4B47-84B1-DAD22BF1454E}" type="pres">
      <dgm:prSet presAssocID="{6683C677-89E1-4E18-8444-F8D0F9174767}" presName="textRect" presStyleLbl="revTx" presStyleIdx="3" presStyleCnt="6" custScaleY="71695" custLinFactNeighborY="3157">
        <dgm:presLayoutVars>
          <dgm:bulletEnabled/>
        </dgm:presLayoutVars>
      </dgm:prSet>
      <dgm:spPr/>
    </dgm:pt>
    <dgm:pt modelId="{4AFCB975-8743-43A1-8661-60F23E9B89A3}" type="pres">
      <dgm:prSet presAssocID="{09D8EA0C-EED3-4BB1-8AEF-7CFB760A7162}" presName="sibTrans" presStyleLbl="sibTrans2D1" presStyleIdx="0" presStyleCnt="0"/>
      <dgm:spPr/>
    </dgm:pt>
    <dgm:pt modelId="{CDF5A025-CFDC-4004-91F9-1AE14552A37B}" type="pres">
      <dgm:prSet presAssocID="{1DD03B1B-225F-4F59-88E9-6E12FADD869B}" presName="compNode" presStyleCnt="0"/>
      <dgm:spPr/>
    </dgm:pt>
    <dgm:pt modelId="{7601E8C4-7F17-4695-B1CE-57EF4035A40F}" type="pres">
      <dgm:prSet presAssocID="{1DD03B1B-225F-4F59-88E9-6E12FADD869B}" presName="pictRect" presStyleLbl="revTx" presStyleIdx="4" presStyleCnt="6">
        <dgm:presLayoutVars>
          <dgm:chMax val="0"/>
          <dgm:bulletEnabled/>
        </dgm:presLayoutVars>
      </dgm:prSet>
      <dgm:spPr/>
    </dgm:pt>
    <dgm:pt modelId="{4089A5D8-997B-4184-99FA-4FC49BC3D349}" type="pres">
      <dgm:prSet presAssocID="{1DD03B1B-225F-4F59-88E9-6E12FADD869B}" presName="textRect" presStyleLbl="revTx" presStyleIdx="5" presStyleCnt="6" custScaleY="71917" custLinFactNeighborY="3157">
        <dgm:presLayoutVars>
          <dgm:bulletEnabled/>
        </dgm:presLayoutVars>
      </dgm:prSet>
      <dgm:spPr/>
    </dgm:pt>
  </dgm:ptLst>
  <dgm:cxnLst>
    <dgm:cxn modelId="{6E9CBC10-6408-4B6B-9D91-3B6CF69723A7}" type="presOf" srcId="{56734F44-9D7F-4CFB-9CBD-E0EEABC32D3D}" destId="{8EE598D4-3436-4B47-84B1-DAD22BF1454E}" srcOrd="0" destOrd="0" presId="urn:microsoft.com/office/officeart/2024/3/layout/ArchList1#26"/>
    <dgm:cxn modelId="{F20F3214-47B8-4901-993F-1C150E72B110}" type="presOf" srcId="{F79D005A-EF78-4DC8-A9B0-7B54127FABB3}" destId="{439189D0-7625-4BFC-AE7F-D155DAEB60E0}" srcOrd="0" destOrd="0" presId="urn:microsoft.com/office/officeart/2024/3/layout/ArchList1#26"/>
    <dgm:cxn modelId="{C8E9B118-1144-4153-9F17-68806EA98F56}" type="presOf" srcId="{09D8EA0C-EED3-4BB1-8AEF-7CFB760A7162}" destId="{4AFCB975-8743-43A1-8661-60F23E9B89A3}" srcOrd="0" destOrd="0" presId="urn:microsoft.com/office/officeart/2024/3/layout/ArchList1#26"/>
    <dgm:cxn modelId="{8BAEE11B-222F-42FE-A09C-06651794E8C6}" type="presOf" srcId="{5C6C0E93-31C2-4367-9734-22A77E91F852}" destId="{C046629B-369E-4F2D-9BA1-5E3C2DFD91CF}" srcOrd="0" destOrd="0" presId="urn:microsoft.com/office/officeart/2024/3/layout/ArchList1#26"/>
    <dgm:cxn modelId="{AA786369-BAB6-4E7D-8D40-3038C2F9BD94}" type="presOf" srcId="{F6C60737-054A-4D4C-890B-C348D450576A}" destId="{4089A5D8-997B-4184-99FA-4FC49BC3D349}" srcOrd="0" destOrd="0" presId="urn:microsoft.com/office/officeart/2024/3/layout/ArchList1#26"/>
    <dgm:cxn modelId="{BF038F71-DD3A-456F-94B1-E4A5F6A7590E}" srcId="{6683C677-89E1-4E18-8444-F8D0F9174767}" destId="{56734F44-9D7F-4CFB-9CBD-E0EEABC32D3D}" srcOrd="0" destOrd="0" parTransId="{A3AD6FCC-E4F5-46B4-B004-A23AC5C6F65B}" sibTransId="{9C036100-254F-47F6-B01F-1758F7BB772A}"/>
    <dgm:cxn modelId="{08D96A7A-7B33-4E0A-B8CD-43FF03620A4D}" type="presOf" srcId="{6683C677-89E1-4E18-8444-F8D0F9174767}" destId="{149E8246-107E-446D-83A2-2619E61A535F}" srcOrd="0" destOrd="0" presId="urn:microsoft.com/office/officeart/2024/3/layout/ArchList1#26"/>
    <dgm:cxn modelId="{56C8B87E-0F96-4F20-8345-3069AB024E9E}" srcId="{F79D005A-EF78-4DC8-A9B0-7B54127FABB3}" destId="{6683C677-89E1-4E18-8444-F8D0F9174767}" srcOrd="1" destOrd="0" parTransId="{9096D71F-9713-469B-ACE6-161111FE9A54}" sibTransId="{09D8EA0C-EED3-4BB1-8AEF-7CFB760A7162}"/>
    <dgm:cxn modelId="{D1B1DD7F-1A0E-4B47-A656-BC529ACC4476}" type="presOf" srcId="{5DC4A6D3-8F5B-462C-98E5-9DBA04B5F5C0}" destId="{922F7867-BAA8-4280-885B-E9A3B540D23F}" srcOrd="0" destOrd="0" presId="urn:microsoft.com/office/officeart/2024/3/layout/ArchList1#26"/>
    <dgm:cxn modelId="{6193C484-8ABE-4C8E-BC1B-11825138E8E6}" srcId="{1DD03B1B-225F-4F59-88E9-6E12FADD869B}" destId="{F6C60737-054A-4D4C-890B-C348D450576A}" srcOrd="0" destOrd="0" parTransId="{AD74D646-4FE6-49CB-B06E-B0BEE753FD5B}" sibTransId="{33DDF299-F25D-43EA-B386-54F6148ECB5B}"/>
    <dgm:cxn modelId="{B8CDC488-4F8D-4EF9-86AB-BC5EDA02D830}" srcId="{5C6C0E93-31C2-4367-9734-22A77E91F852}" destId="{5DC4A6D3-8F5B-462C-98E5-9DBA04B5F5C0}" srcOrd="0" destOrd="0" parTransId="{05AC1DA1-5915-400C-AA8A-59903F7D8430}" sibTransId="{EBE04370-C115-496A-829B-022F025D9929}"/>
    <dgm:cxn modelId="{B029E4AA-8B93-47D3-B437-B1BD6DD71A20}" type="presOf" srcId="{1DD03B1B-225F-4F59-88E9-6E12FADD869B}" destId="{7601E8C4-7F17-4695-B1CE-57EF4035A40F}" srcOrd="0" destOrd="0" presId="urn:microsoft.com/office/officeart/2024/3/layout/ArchList1#26"/>
    <dgm:cxn modelId="{3D5AEDEE-0A77-43E9-86F0-551CA752D47B}" type="presOf" srcId="{57C15597-8730-4C5E-950A-E3E94A8A5729}" destId="{5B9D68AB-F95F-4888-AF28-C7B8CC572246}" srcOrd="0" destOrd="0" presId="urn:microsoft.com/office/officeart/2024/3/layout/ArchList1#26"/>
    <dgm:cxn modelId="{380048F8-519C-4DF3-983E-65F199CAF07C}" srcId="{F79D005A-EF78-4DC8-A9B0-7B54127FABB3}" destId="{5C6C0E93-31C2-4367-9734-22A77E91F852}" srcOrd="0" destOrd="0" parTransId="{8C6185DB-C15F-4142-9FFC-06798EBB4FD3}" sibTransId="{57C15597-8730-4C5E-950A-E3E94A8A5729}"/>
    <dgm:cxn modelId="{3651E0FD-E66F-4F72-99C5-BD809EC3C96C}" srcId="{F79D005A-EF78-4DC8-A9B0-7B54127FABB3}" destId="{1DD03B1B-225F-4F59-88E9-6E12FADD869B}" srcOrd="2" destOrd="0" parTransId="{FE2FFDD7-EC33-4C15-918C-5DE14D4351F6}" sibTransId="{36F1427C-26E2-4129-AD15-F3263C896B71}"/>
    <dgm:cxn modelId="{C4441C21-4D4A-419E-BDB5-0EFDEC6881AA}" type="presParOf" srcId="{439189D0-7625-4BFC-AE7F-D155DAEB60E0}" destId="{427D038D-8874-450F-AD39-DCA5940C79C2}" srcOrd="0" destOrd="0" presId="urn:microsoft.com/office/officeart/2024/3/layout/ArchList1#26"/>
    <dgm:cxn modelId="{35BD9CA1-4C81-4437-9E5F-F14F1F9C26BE}" type="presParOf" srcId="{427D038D-8874-450F-AD39-DCA5940C79C2}" destId="{C046629B-369E-4F2D-9BA1-5E3C2DFD91CF}" srcOrd="0" destOrd="0" presId="urn:microsoft.com/office/officeart/2024/3/layout/ArchList1#26"/>
    <dgm:cxn modelId="{0B25A04F-F6D2-4255-AE2F-F93FD358A9F0}" type="presParOf" srcId="{427D038D-8874-450F-AD39-DCA5940C79C2}" destId="{922F7867-BAA8-4280-885B-E9A3B540D23F}" srcOrd="1" destOrd="0" presId="urn:microsoft.com/office/officeart/2024/3/layout/ArchList1#26"/>
    <dgm:cxn modelId="{4FBA8DEA-058A-488C-9128-632035E3EAD3}" type="presParOf" srcId="{439189D0-7625-4BFC-AE7F-D155DAEB60E0}" destId="{5B9D68AB-F95F-4888-AF28-C7B8CC572246}" srcOrd="1" destOrd="0" presId="urn:microsoft.com/office/officeart/2024/3/layout/ArchList1#26"/>
    <dgm:cxn modelId="{E32CAB04-EB91-48B0-88D3-91BB21C269B5}" type="presParOf" srcId="{439189D0-7625-4BFC-AE7F-D155DAEB60E0}" destId="{48C5B127-2DFE-4CE5-9384-32D732EE91F1}" srcOrd="2" destOrd="0" presId="urn:microsoft.com/office/officeart/2024/3/layout/ArchList1#26"/>
    <dgm:cxn modelId="{3247B220-9C19-44F7-B795-F64ED64B9E4D}" type="presParOf" srcId="{48C5B127-2DFE-4CE5-9384-32D732EE91F1}" destId="{149E8246-107E-446D-83A2-2619E61A535F}" srcOrd="0" destOrd="0" presId="urn:microsoft.com/office/officeart/2024/3/layout/ArchList1#26"/>
    <dgm:cxn modelId="{2B0159A6-CBB2-4720-AD9D-7D0D21E11BFE}" type="presParOf" srcId="{48C5B127-2DFE-4CE5-9384-32D732EE91F1}" destId="{8EE598D4-3436-4B47-84B1-DAD22BF1454E}" srcOrd="1" destOrd="0" presId="urn:microsoft.com/office/officeart/2024/3/layout/ArchList1#26"/>
    <dgm:cxn modelId="{C4A25BD5-B19C-4B50-B226-AE9161EA5D48}" type="presParOf" srcId="{439189D0-7625-4BFC-AE7F-D155DAEB60E0}" destId="{4AFCB975-8743-43A1-8661-60F23E9B89A3}" srcOrd="3" destOrd="0" presId="urn:microsoft.com/office/officeart/2024/3/layout/ArchList1#26"/>
    <dgm:cxn modelId="{3904024F-68F4-46C4-B2F0-EFA55405E3F3}" type="presParOf" srcId="{439189D0-7625-4BFC-AE7F-D155DAEB60E0}" destId="{CDF5A025-CFDC-4004-91F9-1AE14552A37B}" srcOrd="4" destOrd="0" presId="urn:microsoft.com/office/officeart/2024/3/layout/ArchList1#26"/>
    <dgm:cxn modelId="{6E5E03FD-89E3-4F21-880B-A61477759132}" type="presParOf" srcId="{CDF5A025-CFDC-4004-91F9-1AE14552A37B}" destId="{7601E8C4-7F17-4695-B1CE-57EF4035A40F}" srcOrd="0" destOrd="0" presId="urn:microsoft.com/office/officeart/2024/3/layout/ArchList1#26"/>
    <dgm:cxn modelId="{387C8A76-3DF5-4D94-95AC-2E13970FACED}" type="presParOf" srcId="{CDF5A025-CFDC-4004-91F9-1AE14552A37B}" destId="{4089A5D8-997B-4184-99FA-4FC49BC3D349}" srcOrd="1" destOrd="0" presId="urn:microsoft.com/office/officeart/2024/3/layout/ArchList1#2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9D005A-EF78-4DC8-A9B0-7B54127FABB3}" type="doc">
      <dgm:prSet loTypeId="urn:microsoft.com/office/officeart/2024/3/layout/ArchList1#2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6C0E93-31C2-4367-9734-22A77E91F852}">
      <dgm:prSet phldrT="[Text]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solidFill>
                <a:schemeClr val="bg1"/>
              </a:solidFill>
              <a:latin typeface="+mn-lt"/>
            </a:rPr>
            <a:t>Financial stability</a:t>
          </a:r>
        </a:p>
      </dgm:t>
    </dgm:pt>
    <dgm:pt modelId="{8C6185DB-C15F-4142-9FFC-06798EBB4FD3}" type="parTrans" cxnId="{380048F8-519C-4DF3-983E-65F199CAF07C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57C15597-8730-4C5E-950A-E3E94A8A5729}" type="sibTrans" cxnId="{380048F8-519C-4DF3-983E-65F199CAF07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>
            <a:solidFill>
              <a:schemeClr val="bg1"/>
            </a:solidFill>
            <a:latin typeface="+mn-lt"/>
          </a:endParaRPr>
        </a:p>
      </dgm:t>
    </dgm:pt>
    <dgm:pt modelId="{5DC4A6D3-8F5B-462C-98E5-9DBA04B5F5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+mn-lt"/>
            </a:rPr>
            <a:t>We remain committed to strong financial management.</a:t>
          </a:r>
        </a:p>
      </dgm:t>
    </dgm:pt>
    <dgm:pt modelId="{05AC1DA1-5915-400C-AA8A-59903F7D8430}" type="parTrans" cxnId="{B8CDC488-4F8D-4EF9-86AB-BC5EDA02D830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EBE04370-C115-496A-829B-022F025D9929}" type="sibTrans" cxnId="{B8CDC488-4F8D-4EF9-86AB-BC5EDA02D830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6683C677-89E1-4E18-8444-F8D0F917476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solidFill>
                <a:schemeClr val="bg1"/>
              </a:solidFill>
              <a:latin typeface="+mn-lt"/>
            </a:rPr>
            <a:t>Strategic investments</a:t>
          </a:r>
        </a:p>
      </dgm:t>
    </dgm:pt>
    <dgm:pt modelId="{9096D71F-9713-469B-ACE6-161111FE9A54}" type="parTrans" cxnId="{56C8B87E-0F96-4F20-8345-3069AB024E9E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09D8EA0C-EED3-4BB1-8AEF-7CFB760A7162}" type="sibTrans" cxnId="{56C8B87E-0F96-4F20-8345-3069AB024E9E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>
            <a:solidFill>
              <a:schemeClr val="bg1"/>
            </a:solidFill>
            <a:latin typeface="+mn-lt"/>
          </a:endParaRPr>
        </a:p>
      </dgm:t>
    </dgm:pt>
    <dgm:pt modelId="{56734F44-9D7F-4CFB-9CBD-E0EEABC32D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+mn-lt"/>
            </a:rPr>
            <a:t>Our next steps focus on long-term value creation.</a:t>
          </a:r>
        </a:p>
      </dgm:t>
    </dgm:pt>
    <dgm:pt modelId="{A3AD6FCC-E4F5-46B4-B004-A23AC5C6F65B}" type="parTrans" cxnId="{BF038F71-DD3A-456F-94B1-E4A5F6A7590E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9C036100-254F-47F6-B01F-1758F7BB772A}" type="sibTrans" cxnId="{BF038F71-DD3A-456F-94B1-E4A5F6A7590E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1DD03B1B-225F-4F59-88E9-6E12FADD86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solidFill>
                <a:schemeClr val="bg1"/>
              </a:solidFill>
              <a:latin typeface="+mn-lt"/>
            </a:rPr>
            <a:t>Sustained growth</a:t>
          </a:r>
        </a:p>
      </dgm:t>
    </dgm:pt>
    <dgm:pt modelId="{FE2FFDD7-EC33-4C15-918C-5DE14D4351F6}" type="parTrans" cxnId="{3651E0FD-E66F-4F72-99C5-BD809EC3C96C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36F1427C-26E2-4129-AD15-F3263C896B71}" type="sibTrans" cxnId="{3651E0FD-E66F-4F72-99C5-BD809EC3C96C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F6C60737-054A-4D4C-890B-C348D45057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+mn-lt"/>
            </a:rPr>
            <a:t>We’re positioned for scalable expansion in the coming years.</a:t>
          </a:r>
        </a:p>
      </dgm:t>
    </dgm:pt>
    <dgm:pt modelId="{AD74D646-4FE6-49CB-B06E-B0BEE753FD5B}" type="parTrans" cxnId="{6193C484-8ABE-4C8E-BC1B-11825138E8E6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33DDF299-F25D-43EA-B386-54F6148ECB5B}" type="sibTrans" cxnId="{6193C484-8ABE-4C8E-BC1B-11825138E8E6}">
      <dgm:prSet/>
      <dgm:spPr/>
      <dgm:t>
        <a:bodyPr/>
        <a:lstStyle/>
        <a:p>
          <a:endParaRPr lang="en-US">
            <a:solidFill>
              <a:schemeClr val="bg1"/>
            </a:solidFill>
            <a:latin typeface="+mn-lt"/>
          </a:endParaRPr>
        </a:p>
      </dgm:t>
    </dgm:pt>
    <dgm:pt modelId="{439189D0-7625-4BFC-AE7F-D155DAEB60E0}" type="pres">
      <dgm:prSet presAssocID="{F79D005A-EF78-4DC8-A9B0-7B54127FABB3}" presName="Name0" presStyleCnt="0">
        <dgm:presLayoutVars>
          <dgm:dir/>
          <dgm:resizeHandles val="exact"/>
        </dgm:presLayoutVars>
      </dgm:prSet>
      <dgm:spPr/>
    </dgm:pt>
    <dgm:pt modelId="{427D038D-8874-450F-AD39-DCA5940C79C2}" type="pres">
      <dgm:prSet presAssocID="{5C6C0E93-31C2-4367-9734-22A77E91F852}" presName="compNode" presStyleCnt="0"/>
      <dgm:spPr/>
    </dgm:pt>
    <dgm:pt modelId="{C046629B-369E-4F2D-9BA1-5E3C2DFD91CF}" type="pres">
      <dgm:prSet presAssocID="{5C6C0E93-31C2-4367-9734-22A77E91F852}" presName="pictRect" presStyleLbl="revTx" presStyleIdx="0" presStyleCnt="6">
        <dgm:presLayoutVars>
          <dgm:chMax val="0"/>
          <dgm:bulletEnabled/>
        </dgm:presLayoutVars>
      </dgm:prSet>
      <dgm:spPr/>
    </dgm:pt>
    <dgm:pt modelId="{922F7867-BAA8-4280-885B-E9A3B540D23F}" type="pres">
      <dgm:prSet presAssocID="{5C6C0E93-31C2-4367-9734-22A77E91F852}" presName="textRect" presStyleLbl="revTx" presStyleIdx="1" presStyleCnt="6" custScaleY="92705" custLinFactNeighborY="3157">
        <dgm:presLayoutVars>
          <dgm:bulletEnabled/>
        </dgm:presLayoutVars>
      </dgm:prSet>
      <dgm:spPr/>
    </dgm:pt>
    <dgm:pt modelId="{5B9D68AB-F95F-4888-AF28-C7B8CC572246}" type="pres">
      <dgm:prSet presAssocID="{57C15597-8730-4C5E-950A-E3E94A8A5729}" presName="sibTrans" presStyleLbl="sibTrans2D1" presStyleIdx="0" presStyleCnt="0"/>
      <dgm:spPr/>
    </dgm:pt>
    <dgm:pt modelId="{48C5B127-2DFE-4CE5-9384-32D732EE91F1}" type="pres">
      <dgm:prSet presAssocID="{6683C677-89E1-4E18-8444-F8D0F9174767}" presName="compNode" presStyleCnt="0"/>
      <dgm:spPr/>
    </dgm:pt>
    <dgm:pt modelId="{149E8246-107E-446D-83A2-2619E61A535F}" type="pres">
      <dgm:prSet presAssocID="{6683C677-89E1-4E18-8444-F8D0F9174767}" presName="pictRect" presStyleLbl="revTx" presStyleIdx="2" presStyleCnt="6">
        <dgm:presLayoutVars>
          <dgm:chMax val="0"/>
          <dgm:bulletEnabled/>
        </dgm:presLayoutVars>
      </dgm:prSet>
      <dgm:spPr/>
    </dgm:pt>
    <dgm:pt modelId="{8EE598D4-3436-4B47-84B1-DAD22BF1454E}" type="pres">
      <dgm:prSet presAssocID="{6683C677-89E1-4E18-8444-F8D0F9174767}" presName="textRect" presStyleLbl="revTx" presStyleIdx="3" presStyleCnt="6" custScaleY="92705" custLinFactNeighborY="3157">
        <dgm:presLayoutVars>
          <dgm:bulletEnabled/>
        </dgm:presLayoutVars>
      </dgm:prSet>
      <dgm:spPr/>
    </dgm:pt>
    <dgm:pt modelId="{4AFCB975-8743-43A1-8661-60F23E9B89A3}" type="pres">
      <dgm:prSet presAssocID="{09D8EA0C-EED3-4BB1-8AEF-7CFB760A7162}" presName="sibTrans" presStyleLbl="sibTrans2D1" presStyleIdx="0" presStyleCnt="0"/>
      <dgm:spPr/>
    </dgm:pt>
    <dgm:pt modelId="{CDF5A025-CFDC-4004-91F9-1AE14552A37B}" type="pres">
      <dgm:prSet presAssocID="{1DD03B1B-225F-4F59-88E9-6E12FADD869B}" presName="compNode" presStyleCnt="0"/>
      <dgm:spPr/>
    </dgm:pt>
    <dgm:pt modelId="{7601E8C4-7F17-4695-B1CE-57EF4035A40F}" type="pres">
      <dgm:prSet presAssocID="{1DD03B1B-225F-4F59-88E9-6E12FADD869B}" presName="pictRect" presStyleLbl="revTx" presStyleIdx="4" presStyleCnt="6">
        <dgm:presLayoutVars>
          <dgm:chMax val="0"/>
          <dgm:bulletEnabled/>
        </dgm:presLayoutVars>
      </dgm:prSet>
      <dgm:spPr/>
    </dgm:pt>
    <dgm:pt modelId="{4089A5D8-997B-4184-99FA-4FC49BC3D349}" type="pres">
      <dgm:prSet presAssocID="{1DD03B1B-225F-4F59-88E9-6E12FADD869B}" presName="textRect" presStyleLbl="revTx" presStyleIdx="5" presStyleCnt="6" custScaleY="92705" custLinFactNeighborY="3157">
        <dgm:presLayoutVars>
          <dgm:bulletEnabled/>
        </dgm:presLayoutVars>
      </dgm:prSet>
      <dgm:spPr/>
    </dgm:pt>
  </dgm:ptLst>
  <dgm:cxnLst>
    <dgm:cxn modelId="{6E9CBC10-6408-4B6B-9D91-3B6CF69723A7}" type="presOf" srcId="{56734F44-9D7F-4CFB-9CBD-E0EEABC32D3D}" destId="{8EE598D4-3436-4B47-84B1-DAD22BF1454E}" srcOrd="0" destOrd="0" presId="urn:microsoft.com/office/officeart/2024/3/layout/ArchList1#26"/>
    <dgm:cxn modelId="{F20F3214-47B8-4901-993F-1C150E72B110}" type="presOf" srcId="{F79D005A-EF78-4DC8-A9B0-7B54127FABB3}" destId="{439189D0-7625-4BFC-AE7F-D155DAEB60E0}" srcOrd="0" destOrd="0" presId="urn:microsoft.com/office/officeart/2024/3/layout/ArchList1#26"/>
    <dgm:cxn modelId="{C8E9B118-1144-4153-9F17-68806EA98F56}" type="presOf" srcId="{09D8EA0C-EED3-4BB1-8AEF-7CFB760A7162}" destId="{4AFCB975-8743-43A1-8661-60F23E9B89A3}" srcOrd="0" destOrd="0" presId="urn:microsoft.com/office/officeart/2024/3/layout/ArchList1#26"/>
    <dgm:cxn modelId="{8BAEE11B-222F-42FE-A09C-06651794E8C6}" type="presOf" srcId="{5C6C0E93-31C2-4367-9734-22A77E91F852}" destId="{C046629B-369E-4F2D-9BA1-5E3C2DFD91CF}" srcOrd="0" destOrd="0" presId="urn:microsoft.com/office/officeart/2024/3/layout/ArchList1#26"/>
    <dgm:cxn modelId="{AA786369-BAB6-4E7D-8D40-3038C2F9BD94}" type="presOf" srcId="{F6C60737-054A-4D4C-890B-C348D450576A}" destId="{4089A5D8-997B-4184-99FA-4FC49BC3D349}" srcOrd="0" destOrd="0" presId="urn:microsoft.com/office/officeart/2024/3/layout/ArchList1#26"/>
    <dgm:cxn modelId="{BF038F71-DD3A-456F-94B1-E4A5F6A7590E}" srcId="{6683C677-89E1-4E18-8444-F8D0F9174767}" destId="{56734F44-9D7F-4CFB-9CBD-E0EEABC32D3D}" srcOrd="0" destOrd="0" parTransId="{A3AD6FCC-E4F5-46B4-B004-A23AC5C6F65B}" sibTransId="{9C036100-254F-47F6-B01F-1758F7BB772A}"/>
    <dgm:cxn modelId="{08D96A7A-7B33-4E0A-B8CD-43FF03620A4D}" type="presOf" srcId="{6683C677-89E1-4E18-8444-F8D0F9174767}" destId="{149E8246-107E-446D-83A2-2619E61A535F}" srcOrd="0" destOrd="0" presId="urn:microsoft.com/office/officeart/2024/3/layout/ArchList1#26"/>
    <dgm:cxn modelId="{56C8B87E-0F96-4F20-8345-3069AB024E9E}" srcId="{F79D005A-EF78-4DC8-A9B0-7B54127FABB3}" destId="{6683C677-89E1-4E18-8444-F8D0F9174767}" srcOrd="1" destOrd="0" parTransId="{9096D71F-9713-469B-ACE6-161111FE9A54}" sibTransId="{09D8EA0C-EED3-4BB1-8AEF-7CFB760A7162}"/>
    <dgm:cxn modelId="{D1B1DD7F-1A0E-4B47-A656-BC529ACC4476}" type="presOf" srcId="{5DC4A6D3-8F5B-462C-98E5-9DBA04B5F5C0}" destId="{922F7867-BAA8-4280-885B-E9A3B540D23F}" srcOrd="0" destOrd="0" presId="urn:microsoft.com/office/officeart/2024/3/layout/ArchList1#26"/>
    <dgm:cxn modelId="{6193C484-8ABE-4C8E-BC1B-11825138E8E6}" srcId="{1DD03B1B-225F-4F59-88E9-6E12FADD869B}" destId="{F6C60737-054A-4D4C-890B-C348D450576A}" srcOrd="0" destOrd="0" parTransId="{AD74D646-4FE6-49CB-B06E-B0BEE753FD5B}" sibTransId="{33DDF299-F25D-43EA-B386-54F6148ECB5B}"/>
    <dgm:cxn modelId="{B8CDC488-4F8D-4EF9-86AB-BC5EDA02D830}" srcId="{5C6C0E93-31C2-4367-9734-22A77E91F852}" destId="{5DC4A6D3-8F5B-462C-98E5-9DBA04B5F5C0}" srcOrd="0" destOrd="0" parTransId="{05AC1DA1-5915-400C-AA8A-59903F7D8430}" sibTransId="{EBE04370-C115-496A-829B-022F025D9929}"/>
    <dgm:cxn modelId="{B029E4AA-8B93-47D3-B437-B1BD6DD71A20}" type="presOf" srcId="{1DD03B1B-225F-4F59-88E9-6E12FADD869B}" destId="{7601E8C4-7F17-4695-B1CE-57EF4035A40F}" srcOrd="0" destOrd="0" presId="urn:microsoft.com/office/officeart/2024/3/layout/ArchList1#26"/>
    <dgm:cxn modelId="{3D5AEDEE-0A77-43E9-86F0-551CA752D47B}" type="presOf" srcId="{57C15597-8730-4C5E-950A-E3E94A8A5729}" destId="{5B9D68AB-F95F-4888-AF28-C7B8CC572246}" srcOrd="0" destOrd="0" presId="urn:microsoft.com/office/officeart/2024/3/layout/ArchList1#26"/>
    <dgm:cxn modelId="{380048F8-519C-4DF3-983E-65F199CAF07C}" srcId="{F79D005A-EF78-4DC8-A9B0-7B54127FABB3}" destId="{5C6C0E93-31C2-4367-9734-22A77E91F852}" srcOrd="0" destOrd="0" parTransId="{8C6185DB-C15F-4142-9FFC-06798EBB4FD3}" sibTransId="{57C15597-8730-4C5E-950A-E3E94A8A5729}"/>
    <dgm:cxn modelId="{3651E0FD-E66F-4F72-99C5-BD809EC3C96C}" srcId="{F79D005A-EF78-4DC8-A9B0-7B54127FABB3}" destId="{1DD03B1B-225F-4F59-88E9-6E12FADD869B}" srcOrd="2" destOrd="0" parTransId="{FE2FFDD7-EC33-4C15-918C-5DE14D4351F6}" sibTransId="{36F1427C-26E2-4129-AD15-F3263C896B71}"/>
    <dgm:cxn modelId="{C4441C21-4D4A-419E-BDB5-0EFDEC6881AA}" type="presParOf" srcId="{439189D0-7625-4BFC-AE7F-D155DAEB60E0}" destId="{427D038D-8874-450F-AD39-DCA5940C79C2}" srcOrd="0" destOrd="0" presId="urn:microsoft.com/office/officeart/2024/3/layout/ArchList1#26"/>
    <dgm:cxn modelId="{35BD9CA1-4C81-4437-9E5F-F14F1F9C26BE}" type="presParOf" srcId="{427D038D-8874-450F-AD39-DCA5940C79C2}" destId="{C046629B-369E-4F2D-9BA1-5E3C2DFD91CF}" srcOrd="0" destOrd="0" presId="urn:microsoft.com/office/officeart/2024/3/layout/ArchList1#26"/>
    <dgm:cxn modelId="{0B25A04F-F6D2-4255-AE2F-F93FD358A9F0}" type="presParOf" srcId="{427D038D-8874-450F-AD39-DCA5940C79C2}" destId="{922F7867-BAA8-4280-885B-E9A3B540D23F}" srcOrd="1" destOrd="0" presId="urn:microsoft.com/office/officeart/2024/3/layout/ArchList1#26"/>
    <dgm:cxn modelId="{4FBA8DEA-058A-488C-9128-632035E3EAD3}" type="presParOf" srcId="{439189D0-7625-4BFC-AE7F-D155DAEB60E0}" destId="{5B9D68AB-F95F-4888-AF28-C7B8CC572246}" srcOrd="1" destOrd="0" presId="urn:microsoft.com/office/officeart/2024/3/layout/ArchList1#26"/>
    <dgm:cxn modelId="{E32CAB04-EB91-48B0-88D3-91BB21C269B5}" type="presParOf" srcId="{439189D0-7625-4BFC-AE7F-D155DAEB60E0}" destId="{48C5B127-2DFE-4CE5-9384-32D732EE91F1}" srcOrd="2" destOrd="0" presId="urn:microsoft.com/office/officeart/2024/3/layout/ArchList1#26"/>
    <dgm:cxn modelId="{3247B220-9C19-44F7-B795-F64ED64B9E4D}" type="presParOf" srcId="{48C5B127-2DFE-4CE5-9384-32D732EE91F1}" destId="{149E8246-107E-446D-83A2-2619E61A535F}" srcOrd="0" destOrd="0" presId="urn:microsoft.com/office/officeart/2024/3/layout/ArchList1#26"/>
    <dgm:cxn modelId="{2B0159A6-CBB2-4720-AD9D-7D0D21E11BFE}" type="presParOf" srcId="{48C5B127-2DFE-4CE5-9384-32D732EE91F1}" destId="{8EE598D4-3436-4B47-84B1-DAD22BF1454E}" srcOrd="1" destOrd="0" presId="urn:microsoft.com/office/officeart/2024/3/layout/ArchList1#26"/>
    <dgm:cxn modelId="{C4A25BD5-B19C-4B50-B226-AE9161EA5D48}" type="presParOf" srcId="{439189D0-7625-4BFC-AE7F-D155DAEB60E0}" destId="{4AFCB975-8743-43A1-8661-60F23E9B89A3}" srcOrd="3" destOrd="0" presId="urn:microsoft.com/office/officeart/2024/3/layout/ArchList1#26"/>
    <dgm:cxn modelId="{3904024F-68F4-46C4-B2F0-EFA55405E3F3}" type="presParOf" srcId="{439189D0-7625-4BFC-AE7F-D155DAEB60E0}" destId="{CDF5A025-CFDC-4004-91F9-1AE14552A37B}" srcOrd="4" destOrd="0" presId="urn:microsoft.com/office/officeart/2024/3/layout/ArchList1#26"/>
    <dgm:cxn modelId="{6E5E03FD-89E3-4F21-880B-A61477759132}" type="presParOf" srcId="{CDF5A025-CFDC-4004-91F9-1AE14552A37B}" destId="{7601E8C4-7F17-4695-B1CE-57EF4035A40F}" srcOrd="0" destOrd="0" presId="urn:microsoft.com/office/officeart/2024/3/layout/ArchList1#26"/>
    <dgm:cxn modelId="{387C8A76-3DF5-4D94-95AC-2E13970FACED}" type="presParOf" srcId="{CDF5A025-CFDC-4004-91F9-1AE14552A37B}" destId="{4089A5D8-997B-4184-99FA-4FC49BC3D349}" srcOrd="1" destOrd="0" presId="urn:microsoft.com/office/officeart/2024/3/layout/ArchList1#2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6629B-369E-4F2D-9BA1-5E3C2DFD91CF}">
      <dsp:nvSpPr>
        <dsp:cNvPr id="0" name=""/>
        <dsp:cNvSpPr/>
      </dsp:nvSpPr>
      <dsp:spPr>
        <a:xfrm>
          <a:off x="0" y="1644"/>
          <a:ext cx="3403203" cy="1297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 err="1">
              <a:solidFill>
                <a:srgbClr val="FFFFFF"/>
              </a:solidFill>
              <a:latin typeface="+mn-lt"/>
              <a:ea typeface="+mn-ea"/>
              <a:cs typeface="+mn-cs"/>
            </a:rPr>
            <a:t>XGBoost</a:t>
          </a:r>
          <a:r>
            <a:rPr lang="en-US" sz="2000" kern="1200" dirty="0">
              <a:solidFill>
                <a:srgbClr val="FFFFFF"/>
              </a:solidFill>
              <a:latin typeface="+mn-lt"/>
              <a:ea typeface="+mn-ea"/>
              <a:cs typeface="+mn-cs"/>
            </a:rPr>
            <a:t> performed the best, but had struggled with overfitting on small samples</a:t>
          </a:r>
          <a:endParaRPr lang="en-US" sz="2000" b="1" kern="1200" dirty="0">
            <a:solidFill>
              <a:srgbClr val="FFFFFF"/>
            </a:solidFill>
            <a:latin typeface="+mn-lt"/>
            <a:ea typeface="+mn-ea"/>
            <a:cs typeface="+mn-cs"/>
          </a:endParaRPr>
        </a:p>
      </dsp:txBody>
      <dsp:txXfrm>
        <a:off x="0" y="1644"/>
        <a:ext cx="3403203" cy="1297978"/>
      </dsp:txXfrm>
    </dsp:sp>
    <dsp:sp modelId="{922F7867-BAA8-4280-885B-E9A3B540D23F}">
      <dsp:nvSpPr>
        <dsp:cNvPr id="0" name=""/>
        <dsp:cNvSpPr/>
      </dsp:nvSpPr>
      <dsp:spPr>
        <a:xfrm>
          <a:off x="0" y="1621604"/>
          <a:ext cx="3403203" cy="1326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rgbClr val="FFFFFF"/>
              </a:solidFill>
              <a:latin typeface="+mn-lt"/>
              <a:ea typeface="+mn-ea"/>
              <a:cs typeface="+mn-cs"/>
            </a:rPr>
            <a:t>Predicting Sales Prices of the Houses Using </a:t>
          </a:r>
          <a:r>
            <a:rPr lang="en-US" sz="1400" b="0" kern="1200" dirty="0">
              <a:solidFill>
                <a:srgbClr val="FFFFFF"/>
              </a:solidFill>
              <a:latin typeface="Century Gothic"/>
              <a:ea typeface="+mn-ea"/>
              <a:cs typeface="+mn-cs"/>
            </a:rPr>
            <a:t>Regression Methods of Machine Learning. Viktorovich (2018)</a:t>
          </a:r>
          <a:r>
            <a:rPr lang="en-US" sz="1400" i="1" kern="1200" dirty="0"/>
            <a:t>,</a:t>
          </a:r>
          <a:endParaRPr lang="en-US" sz="1400" b="0" kern="1200" dirty="0">
            <a:solidFill>
              <a:srgbClr val="FFFFFF"/>
            </a:solidFill>
            <a:latin typeface="+mn-lt"/>
            <a:ea typeface="+mn-ea"/>
            <a:cs typeface="+mn-cs"/>
          </a:endParaRPr>
        </a:p>
      </dsp:txBody>
      <dsp:txXfrm>
        <a:off x="0" y="1621604"/>
        <a:ext cx="3403203" cy="1326062"/>
      </dsp:txXfrm>
    </dsp:sp>
    <dsp:sp modelId="{149E8246-107E-446D-83A2-2619E61A535F}">
      <dsp:nvSpPr>
        <dsp:cNvPr id="0" name=""/>
        <dsp:cNvSpPr/>
      </dsp:nvSpPr>
      <dsp:spPr>
        <a:xfrm>
          <a:off x="3743523" y="1028"/>
          <a:ext cx="3403203" cy="1297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>
              <a:solidFill>
                <a:schemeClr val="bg1"/>
              </a:solidFill>
              <a:latin typeface="+mn-lt"/>
            </a:rPr>
            <a:t>ANN and Random Forest outperformed hedonic methods </a:t>
          </a:r>
        </a:p>
      </dsp:txBody>
      <dsp:txXfrm>
        <a:off x="3743523" y="1028"/>
        <a:ext cx="3403203" cy="1297978"/>
      </dsp:txXfrm>
    </dsp:sp>
    <dsp:sp modelId="{8EE598D4-3436-4B47-84B1-DAD22BF1454E}">
      <dsp:nvSpPr>
        <dsp:cNvPr id="0" name=""/>
        <dsp:cNvSpPr/>
      </dsp:nvSpPr>
      <dsp:spPr>
        <a:xfrm>
          <a:off x="3743523" y="1619756"/>
          <a:ext cx="3403203" cy="1328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chemeClr val="bg1"/>
              </a:solidFill>
              <a:latin typeface="+mn-lt"/>
            </a:rPr>
            <a:t>Machine Learning, Deep Learning, and Hedonic Methods for Real Estate Price Prediction. Yazdani (2021)  </a:t>
          </a:r>
        </a:p>
      </dsp:txBody>
      <dsp:txXfrm>
        <a:off x="3743523" y="1619756"/>
        <a:ext cx="3403203" cy="1328526"/>
      </dsp:txXfrm>
    </dsp:sp>
    <dsp:sp modelId="{7601E8C4-7F17-4695-B1CE-57EF4035A40F}">
      <dsp:nvSpPr>
        <dsp:cNvPr id="0" name=""/>
        <dsp:cNvSpPr/>
      </dsp:nvSpPr>
      <dsp:spPr>
        <a:xfrm>
          <a:off x="7487046" y="0"/>
          <a:ext cx="3403203" cy="1297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5400" rIns="25400" bIns="2540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>
              <a:solidFill>
                <a:schemeClr val="bg1"/>
              </a:solidFill>
              <a:latin typeface="+mn-lt"/>
            </a:rPr>
            <a:t>Machine learning models outperformed traditional linear models, particularly boosting algorithms</a:t>
          </a:r>
          <a:endParaRPr lang="en-US" sz="2000" b="1" kern="1200" dirty="0">
            <a:solidFill>
              <a:srgbClr val="FFFFFF"/>
            </a:solidFill>
            <a:latin typeface="Century Gothic"/>
            <a:ea typeface="+mn-ea"/>
            <a:cs typeface="+mn-cs"/>
          </a:endParaRPr>
        </a:p>
      </dsp:txBody>
      <dsp:txXfrm>
        <a:off x="7487046" y="0"/>
        <a:ext cx="3403203" cy="1297978"/>
      </dsp:txXfrm>
    </dsp:sp>
    <dsp:sp modelId="{4089A5D8-997B-4184-99FA-4FC49BC3D349}">
      <dsp:nvSpPr>
        <dsp:cNvPr id="0" name=""/>
        <dsp:cNvSpPr/>
      </dsp:nvSpPr>
      <dsp:spPr>
        <a:xfrm>
          <a:off x="7487046" y="1616671"/>
          <a:ext cx="3403203" cy="1332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rgbClr val="FFFFFF"/>
              </a:solidFill>
              <a:latin typeface="Century Gothic"/>
              <a:ea typeface="+mn-ea"/>
              <a:cs typeface="+mn-cs"/>
            </a:rPr>
            <a:t>Housing Price Prediction Using Machine Learning Algorithms in COVID-19 Times. Mora-Garcia (2022)</a:t>
          </a:r>
        </a:p>
      </dsp:txBody>
      <dsp:txXfrm>
        <a:off x="7487046" y="1616671"/>
        <a:ext cx="3403203" cy="1332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6629B-369E-4F2D-9BA1-5E3C2DFD91CF}">
      <dsp:nvSpPr>
        <dsp:cNvPr id="0" name=""/>
        <dsp:cNvSpPr/>
      </dsp:nvSpPr>
      <dsp:spPr>
        <a:xfrm>
          <a:off x="0" y="0"/>
          <a:ext cx="3403203" cy="34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bg1"/>
              </a:solidFill>
              <a:latin typeface="+mn-lt"/>
            </a:rPr>
            <a:t>Financial stability</a:t>
          </a:r>
        </a:p>
      </dsp:txBody>
      <dsp:txXfrm>
        <a:off x="0" y="0"/>
        <a:ext cx="3403203" cy="347793"/>
      </dsp:txXfrm>
    </dsp:sp>
    <dsp:sp modelId="{922F7867-BAA8-4280-885B-E9A3B540D23F}">
      <dsp:nvSpPr>
        <dsp:cNvPr id="0" name=""/>
        <dsp:cNvSpPr/>
      </dsp:nvSpPr>
      <dsp:spPr>
        <a:xfrm>
          <a:off x="0" y="532169"/>
          <a:ext cx="3403203" cy="2511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  <a:latin typeface="+mn-lt"/>
            </a:rPr>
            <a:t>We remain committed to strong financial management.</a:t>
          </a:r>
        </a:p>
      </dsp:txBody>
      <dsp:txXfrm>
        <a:off x="0" y="532169"/>
        <a:ext cx="3403203" cy="2511955"/>
      </dsp:txXfrm>
    </dsp:sp>
    <dsp:sp modelId="{149E8246-107E-446D-83A2-2619E61A535F}">
      <dsp:nvSpPr>
        <dsp:cNvPr id="0" name=""/>
        <dsp:cNvSpPr/>
      </dsp:nvSpPr>
      <dsp:spPr>
        <a:xfrm>
          <a:off x="3743523" y="0"/>
          <a:ext cx="3403203" cy="34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bg1"/>
              </a:solidFill>
              <a:latin typeface="+mn-lt"/>
            </a:rPr>
            <a:t>Strategic investments</a:t>
          </a:r>
        </a:p>
      </dsp:txBody>
      <dsp:txXfrm>
        <a:off x="3743523" y="0"/>
        <a:ext cx="3403203" cy="347793"/>
      </dsp:txXfrm>
    </dsp:sp>
    <dsp:sp modelId="{8EE598D4-3436-4B47-84B1-DAD22BF1454E}">
      <dsp:nvSpPr>
        <dsp:cNvPr id="0" name=""/>
        <dsp:cNvSpPr/>
      </dsp:nvSpPr>
      <dsp:spPr>
        <a:xfrm>
          <a:off x="3743523" y="532169"/>
          <a:ext cx="3403203" cy="2511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  <a:latin typeface="+mn-lt"/>
            </a:rPr>
            <a:t>Our next steps focus on long-term value creation.</a:t>
          </a:r>
        </a:p>
      </dsp:txBody>
      <dsp:txXfrm>
        <a:off x="3743523" y="532169"/>
        <a:ext cx="3403203" cy="2511955"/>
      </dsp:txXfrm>
    </dsp:sp>
    <dsp:sp modelId="{7601E8C4-7F17-4695-B1CE-57EF4035A40F}">
      <dsp:nvSpPr>
        <dsp:cNvPr id="0" name=""/>
        <dsp:cNvSpPr/>
      </dsp:nvSpPr>
      <dsp:spPr>
        <a:xfrm>
          <a:off x="7487046" y="0"/>
          <a:ext cx="3403203" cy="347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bg1"/>
              </a:solidFill>
              <a:latin typeface="+mn-lt"/>
            </a:rPr>
            <a:t>Sustained growth</a:t>
          </a:r>
        </a:p>
      </dsp:txBody>
      <dsp:txXfrm>
        <a:off x="7487046" y="0"/>
        <a:ext cx="3403203" cy="347793"/>
      </dsp:txXfrm>
    </dsp:sp>
    <dsp:sp modelId="{4089A5D8-997B-4184-99FA-4FC49BC3D349}">
      <dsp:nvSpPr>
        <dsp:cNvPr id="0" name=""/>
        <dsp:cNvSpPr/>
      </dsp:nvSpPr>
      <dsp:spPr>
        <a:xfrm>
          <a:off x="7487046" y="532169"/>
          <a:ext cx="3403203" cy="2511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  <a:latin typeface="+mn-lt"/>
            </a:rPr>
            <a:t>We’re positioned for scalable expansion in the coming years.</a:t>
          </a:r>
        </a:p>
      </dsp:txBody>
      <dsp:txXfrm>
        <a:off x="7487046" y="532169"/>
        <a:ext cx="3403203" cy="25119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ArchList1#26">
  <dgm:title val="Flexible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linDir" val="from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ArchList1#26">
  <dgm:title val="Flexible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linDir" val="from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6/8/25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6/8/25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28600" indent="0">
              <a:buNone/>
              <a:defRPr sz="1600">
                <a:solidFill>
                  <a:schemeClr val="bg1"/>
                </a:solidFill>
              </a:defRPr>
            </a:lvl2pPr>
            <a:lvl3pPr marL="457200" indent="0">
              <a:buNone/>
              <a:defRPr sz="1400">
                <a:solidFill>
                  <a:schemeClr val="bg1"/>
                </a:solidFill>
              </a:defRPr>
            </a:lvl3pPr>
            <a:lvl4pPr marL="685800" indent="0">
              <a:buNone/>
              <a:defRPr sz="1200">
                <a:solidFill>
                  <a:schemeClr val="bg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3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cpafl.org/" TargetMode="External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hyperlink" Target="https://github.com/bofethe/parcel-sale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5" y="4957555"/>
            <a:ext cx="7128407" cy="1737360"/>
          </a:xfrm>
        </p:spPr>
        <p:txBody>
          <a:bodyPr/>
          <a:lstStyle/>
          <a:p>
            <a:r>
              <a:rPr lang="en-US" dirty="0"/>
              <a:t>Hillsborough County Parcel Sales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Bo Fethe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9145F-19F3-62BD-45B1-BCE975DD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/>
          <a:lstStyle/>
          <a:p>
            <a:r>
              <a:rPr lang="en-US" dirty="0"/>
              <a:t>Purpose </a:t>
            </a:r>
          </a:p>
        </p:txBody>
      </p:sp>
      <p:pic>
        <p:nvPicPr>
          <p:cNvPr id="8" name="Picture Placeholder 7" descr="A close-up of a metal surface with ridges&#10;">
            <a:extLst>
              <a:ext uri="{FF2B5EF4-FFF2-40B4-BE49-F238E27FC236}">
                <a16:creationId xmlns:a16="http://schemas.microsoft.com/office/drawing/2014/main" id="{D6765182-5DF1-100F-689E-E034959A154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773" r="29773"/>
          <a:stretch/>
        </p:blipFill>
        <p:spPr>
          <a:xfrm>
            <a:off x="638475" y="1"/>
            <a:ext cx="3776472" cy="622014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85D94-AADC-B5C4-3A9B-759B877D3B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/>
          <a:p>
            <a:r>
              <a:rPr lang="en-US" dirty="0"/>
              <a:t>Leverage analytics to predict property sale values in Hillsborough County, Florida, to support damage assessment efforts following natural disasters.</a:t>
            </a:r>
          </a:p>
        </p:txBody>
      </p:sp>
    </p:spTree>
    <p:extLst>
      <p:ext uri="{BB962C8B-B14F-4D97-AF65-F5344CB8AC3E}">
        <p14:creationId xmlns:p14="http://schemas.microsoft.com/office/powerpoint/2010/main" val="3251693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/>
          <a:lstStyle/>
          <a:p>
            <a:r>
              <a:rPr lang="en-US" dirty="0"/>
              <a:t>Background →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FCD81-6E05-0E1D-6F27-A02F7126A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576922"/>
          </a:xfrm>
        </p:spPr>
        <p:txBody>
          <a:bodyPr>
            <a:normAutofit fontScale="90000"/>
          </a:bodyPr>
          <a:lstStyle/>
          <a:p>
            <a:r>
              <a:rPr lang="en-US" dirty="0"/>
              <a:t>Current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71E1C-DF0A-20C9-500E-E854AE5D8A9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573619"/>
            <a:ext cx="5777953" cy="4287684"/>
          </a:xfrm>
        </p:spPr>
        <p:txBody>
          <a:bodyPr>
            <a:normAutofit/>
          </a:bodyPr>
          <a:lstStyle/>
          <a:p>
            <a:r>
              <a:rPr lang="en-US" dirty="0"/>
              <a:t>Property values are </a:t>
            </a:r>
            <a:r>
              <a:rPr lang="en-US" b="1" dirty="0"/>
              <a:t>under-represented </a:t>
            </a:r>
            <a:r>
              <a:rPr lang="en-US" dirty="0"/>
              <a:t>causing discrepancies during natural disasters when organizations quantify financial impacts</a:t>
            </a:r>
          </a:p>
          <a:p>
            <a:endParaRPr lang="en-US" dirty="0"/>
          </a:p>
          <a:p>
            <a:r>
              <a:rPr lang="en-US" dirty="0"/>
              <a:t>Save Our Homes Act </a:t>
            </a:r>
            <a:r>
              <a:rPr lang="en-US" b="1" dirty="0"/>
              <a:t>limits the annual increase </a:t>
            </a:r>
            <a:r>
              <a:rPr lang="en-US" dirty="0"/>
              <a:t>in the assessed value of homesteaded properties to 3% or the change in the Consumer Price Index (CPI), whichever is less</a:t>
            </a:r>
          </a:p>
          <a:p>
            <a:endParaRPr lang="en-US" dirty="0"/>
          </a:p>
          <a:p>
            <a:r>
              <a:rPr lang="en-US" dirty="0"/>
              <a:t>Typical assessments are based on either </a:t>
            </a:r>
            <a:r>
              <a:rPr lang="en-US" b="1" dirty="0"/>
              <a:t>Market Value</a:t>
            </a:r>
            <a:r>
              <a:rPr lang="en-US" dirty="0"/>
              <a:t> or </a:t>
            </a:r>
            <a:r>
              <a:rPr lang="en-US" b="1" dirty="0"/>
              <a:t>Building Value</a:t>
            </a:r>
          </a:p>
        </p:txBody>
      </p:sp>
      <p:pic>
        <p:nvPicPr>
          <p:cNvPr id="6" name="Picture Placeholder 5" descr="A close-up of a grid">
            <a:extLst>
              <a:ext uri="{FF2B5EF4-FFF2-40B4-BE49-F238E27FC236}">
                <a16:creationId xmlns:a16="http://schemas.microsoft.com/office/drawing/2014/main" id="{625D4B0A-E11C-A89E-AD42-E9AC938E49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54" r="16054"/>
          <a:stretch/>
        </p:blipFill>
        <p:spPr>
          <a:xfrm>
            <a:off x="6828440" y="996696"/>
            <a:ext cx="5363561" cy="4864608"/>
          </a:xfrm>
        </p:spPr>
      </p:pic>
    </p:spTree>
    <p:extLst>
      <p:ext uri="{BB962C8B-B14F-4D97-AF65-F5344CB8AC3E}">
        <p14:creationId xmlns:p14="http://schemas.microsoft.com/office/powerpoint/2010/main" val="2190041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5" descr="A close-up of a grid">
            <a:extLst>
              <a:ext uri="{FF2B5EF4-FFF2-40B4-BE49-F238E27FC236}">
                <a16:creationId xmlns:a16="http://schemas.microsoft.com/office/drawing/2014/main" id="{3681BD7C-7068-5594-2FF2-1DC1A2D314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r="-6" b="8650"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DB6744-1A53-D932-6DD0-9CC54AE06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/>
          <a:lstStyle/>
          <a:p>
            <a:pPr algn="ctr"/>
            <a:r>
              <a:rPr lang="en-US" dirty="0"/>
              <a:t>Notable Research Summary</a:t>
            </a:r>
          </a:p>
        </p:txBody>
      </p:sp>
      <p:graphicFrame>
        <p:nvGraphicFramePr>
          <p:cNvPr id="4" name="Content Placeholder 3" descr="Flexible text blocks SmartArt graphic">
            <a:extLst>
              <a:ext uri="{FF2B5EF4-FFF2-40B4-BE49-F238E27FC236}">
                <a16:creationId xmlns:a16="http://schemas.microsoft.com/office/drawing/2014/main" id="{D76C2881-1116-71B5-C845-3A893C40984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96206477"/>
              </p:ext>
            </p:extLst>
          </p:nvPr>
        </p:nvGraphicFramePr>
        <p:xfrm>
          <a:off x="549275" y="2867024"/>
          <a:ext cx="10890250" cy="3151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6913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5759-57FE-52D0-E362-82D93B5B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0E299-4CC9-668D-F87C-364FEF9801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740392"/>
            <a:ext cx="5157788" cy="2989486"/>
          </a:xfrm>
        </p:spPr>
        <p:txBody>
          <a:bodyPr>
            <a:normAutofit/>
          </a:bodyPr>
          <a:lstStyle/>
          <a:p>
            <a:r>
              <a:rPr lang="en-US" sz="1400" b="1" dirty="0"/>
              <a:t>Market Value</a:t>
            </a:r>
          </a:p>
          <a:p>
            <a:r>
              <a:rPr lang="en-US" sz="1400" dirty="0"/>
              <a:t>The typical price a willing buyer would pay to a willing seller for the property</a:t>
            </a:r>
          </a:p>
          <a:p>
            <a:r>
              <a:rPr lang="en-US" sz="1400" b="0" i="0" dirty="0">
                <a:solidFill>
                  <a:srgbClr val="444444"/>
                </a:solidFill>
                <a:effectLst/>
              </a:rPr>
              <a:t>Calculated using 3 approaches: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444444"/>
                </a:solidFill>
                <a:effectLst/>
              </a:rPr>
              <a:t>Cost Approach – cost to replace all assets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444444"/>
                </a:solidFill>
                <a:effectLst/>
              </a:rPr>
              <a:t>Market Approach – sell price of other similar properties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444444"/>
                </a:solidFill>
                <a:effectLst/>
              </a:rPr>
              <a:t>Income Approach – amount of potentially generated revenue</a:t>
            </a:r>
          </a:p>
          <a:p>
            <a:endParaRPr lang="en-US" sz="1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4AC5F4-7B6F-9B4C-C86B-24E0A2D006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4730" y="2740392"/>
            <a:ext cx="5183188" cy="2989486"/>
          </a:xfrm>
        </p:spPr>
        <p:txBody>
          <a:bodyPr>
            <a:normAutofit/>
          </a:bodyPr>
          <a:lstStyle/>
          <a:p>
            <a:r>
              <a:rPr lang="en-US" sz="1400" b="1" dirty="0"/>
              <a:t>Building Value</a:t>
            </a:r>
          </a:p>
          <a:p>
            <a:r>
              <a:rPr lang="en-US" sz="1400" dirty="0"/>
              <a:t>The value of all buildings on the property</a:t>
            </a:r>
          </a:p>
          <a:p>
            <a:r>
              <a:rPr lang="en-US" sz="1400" dirty="0"/>
              <a:t>Used for insurance companies to understand what the best policy is</a:t>
            </a:r>
          </a:p>
          <a:p>
            <a:r>
              <a:rPr lang="en-US" sz="1400" dirty="0"/>
              <a:t>Does not include other factors such as driveway, backyard amenities, or location.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D8D0B-7D6E-195C-28F2-05C6C0EDCBC5}"/>
              </a:ext>
            </a:extLst>
          </p:cNvPr>
          <p:cNvSpPr txBox="1"/>
          <p:nvPr/>
        </p:nvSpPr>
        <p:spPr>
          <a:xfrm>
            <a:off x="548640" y="1865546"/>
            <a:ext cx="9716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data is publicly available on the Hillsborough County Property Appraiser’s website</a:t>
            </a:r>
            <a:r>
              <a:rPr lang="en-US" baseline="300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EFD0A-BFF1-975A-ADC8-979FDDE0160B}"/>
              </a:ext>
            </a:extLst>
          </p:cNvPr>
          <p:cNvSpPr txBox="1"/>
          <p:nvPr/>
        </p:nvSpPr>
        <p:spPr>
          <a:xfrm>
            <a:off x="548640" y="6485250"/>
            <a:ext cx="17540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aseline="30000" dirty="0"/>
              <a:t>1</a:t>
            </a:r>
            <a:r>
              <a:rPr lang="en-US" sz="1000" dirty="0"/>
              <a:t> </a:t>
            </a:r>
            <a:r>
              <a:rPr lang="en-US" sz="1000" dirty="0">
                <a:hlinkClick r:id="rId2"/>
              </a:rPr>
              <a:t>https://www.hcpafl.org</a:t>
            </a:r>
            <a:r>
              <a:rPr lang="en-US" sz="1000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DD40EA-A367-3B23-1980-4243333F91F2}"/>
              </a:ext>
            </a:extLst>
          </p:cNvPr>
          <p:cNvSpPr txBox="1"/>
          <p:nvPr/>
        </p:nvSpPr>
        <p:spPr>
          <a:xfrm>
            <a:off x="3546263" y="5729878"/>
            <a:ext cx="510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⚠️ Neither accurately reflect purchase price</a:t>
            </a:r>
          </a:p>
        </p:txBody>
      </p:sp>
    </p:spTree>
    <p:extLst>
      <p:ext uri="{BB962C8B-B14F-4D97-AF65-F5344CB8AC3E}">
        <p14:creationId xmlns:p14="http://schemas.microsoft.com/office/powerpoint/2010/main" val="3624145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9D6B7-FBE9-65FB-23A2-9C50D747D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0809-153F-823B-CABC-2196C6779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/>
          <a:lstStyle/>
          <a:p>
            <a:r>
              <a:rPr lang="en-US" dirty="0"/>
              <a:t>Methodology →</a:t>
            </a:r>
          </a:p>
        </p:txBody>
      </p:sp>
    </p:spTree>
    <p:extLst>
      <p:ext uri="{BB962C8B-B14F-4D97-AF65-F5344CB8AC3E}">
        <p14:creationId xmlns:p14="http://schemas.microsoft.com/office/powerpoint/2010/main" val="21962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2E33-1721-B951-B733-B7A6DDB7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4"/>
            <a:ext cx="6796553" cy="705298"/>
          </a:xfrm>
        </p:spPr>
        <p:txBody>
          <a:bodyPr/>
          <a:lstStyle/>
          <a:p>
            <a:r>
              <a:rPr lang="en-US" dirty="0"/>
              <a:t>Data Engineering Pipeline</a:t>
            </a:r>
          </a:p>
        </p:txBody>
      </p:sp>
      <p:pic>
        <p:nvPicPr>
          <p:cNvPr id="6" name="Picture Placeholder 5" descr="A close-up of a spiral">
            <a:extLst>
              <a:ext uri="{FF2B5EF4-FFF2-40B4-BE49-F238E27FC236}">
                <a16:creationId xmlns:a16="http://schemas.microsoft.com/office/drawing/2014/main" id="{8F9EDC00-9358-5B30-ACCB-567D2E16D1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63" r="29863"/>
          <a:stretch/>
        </p:blipFill>
        <p:spPr>
          <a:xfrm>
            <a:off x="535580" y="647514"/>
            <a:ext cx="3749041" cy="621048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DD295-31E0-9F29-4736-6681DD7B6D5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1553228"/>
            <a:ext cx="6796553" cy="4810996"/>
          </a:xfrm>
        </p:spPr>
        <p:txBody>
          <a:bodyPr>
            <a:normAutofit/>
          </a:bodyPr>
          <a:lstStyle/>
          <a:p>
            <a:r>
              <a:rPr lang="en-US" sz="1400" b="1" dirty="0"/>
              <a:t>Extract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Unzip raw shapefiles containing parcel and sales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Read .</a:t>
            </a:r>
            <a:r>
              <a:rPr lang="en-US" sz="1400" dirty="0" err="1"/>
              <a:t>dbf</a:t>
            </a:r>
            <a:r>
              <a:rPr lang="en-US" sz="1400" dirty="0"/>
              <a:t> tables using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geopandas</a:t>
            </a:r>
            <a:r>
              <a:rPr lang="en-US" sz="1400" dirty="0"/>
              <a:t> and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pandas</a:t>
            </a:r>
            <a:endParaRPr lang="en-US" sz="1400" dirty="0"/>
          </a:p>
          <a:p>
            <a:r>
              <a:rPr lang="en-US" sz="1400" b="1" dirty="0"/>
              <a:t>Transform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Extract and standardize year from sales date and keep only last 10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Select relevant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Clean and preprocess for modeling (e.g., missing and sentinel values, data types, outlier detection)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Convert to parquet to increase I/O speeds</a:t>
            </a:r>
          </a:p>
          <a:p>
            <a:r>
              <a:rPr lang="en-US" sz="1400" b="1" dirty="0"/>
              <a:t>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Merge into unified </a:t>
            </a:r>
            <a:r>
              <a:rPr lang="en-US" sz="1400" dirty="0" err="1"/>
              <a:t>DataFrame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04891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2226-E8B5-4152-C4E8-44CF70F9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6694-3059-0645-3D97-F7753F323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4"/>
            <a:ext cx="6796553" cy="705298"/>
          </a:xfrm>
        </p:spPr>
        <p:txBody>
          <a:bodyPr>
            <a:normAutofit fontScale="90000"/>
          </a:bodyPr>
          <a:lstStyle/>
          <a:p>
            <a:r>
              <a:rPr lang="en-US" dirty="0"/>
              <a:t>Analytics and Modeling Approach</a:t>
            </a:r>
          </a:p>
        </p:txBody>
      </p:sp>
      <p:pic>
        <p:nvPicPr>
          <p:cNvPr id="6" name="Picture Placeholder 5" descr="A close-up of a spiral">
            <a:extLst>
              <a:ext uri="{FF2B5EF4-FFF2-40B4-BE49-F238E27FC236}">
                <a16:creationId xmlns:a16="http://schemas.microsoft.com/office/drawing/2014/main" id="{62FB08DF-CFBE-51D3-B89B-8D23E27A209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63" r="29863"/>
          <a:stretch/>
        </p:blipFill>
        <p:spPr>
          <a:xfrm>
            <a:off x="535580" y="647514"/>
            <a:ext cx="3749041" cy="621048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57689-5CE7-A965-C773-34E83C707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1553228"/>
            <a:ext cx="6796553" cy="4810996"/>
          </a:xfrm>
        </p:spPr>
        <p:txBody>
          <a:bodyPr>
            <a:normAutofit fontScale="77500" lnSpcReduction="20000"/>
          </a:bodyPr>
          <a:lstStyle/>
          <a:p>
            <a:r>
              <a:rPr lang="en-US" sz="1400" b="1" dirty="0"/>
              <a:t>Modeling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Linear Regression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Baseline model for interpretability and trend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Elastic Net Regression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Combines L1 (LASSO) and L2 (Ridge) regularization to handle multicollinearity and feature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Artificial Neural Network (ANN)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Captures complex non-linear relationships between response and predictor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Random Forest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Ensemble method using decision trees that handles nonlinearities and feature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Gradient Boosting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Boosted trees for high predictive performance by using weak learners</a:t>
            </a:r>
          </a:p>
          <a:p>
            <a:r>
              <a:rPr lang="en-US" sz="1400" b="1" dirty="0"/>
              <a:t>Evaluation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Split data into training (80%) and testing (20%) subsets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Cross-validation (CV) performed on training subset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Ensures robustness and reduces overfitting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5-fold CV used to tune hyperparameters and assess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Select the model with the lowest mean squared error (MSE)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Fit the model to the testing subset</a:t>
            </a:r>
          </a:p>
        </p:txBody>
      </p:sp>
    </p:spTree>
    <p:extLst>
      <p:ext uri="{BB962C8B-B14F-4D97-AF65-F5344CB8AC3E}">
        <p14:creationId xmlns:p14="http://schemas.microsoft.com/office/powerpoint/2010/main" val="109175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1D128-151F-13C3-615D-5BAF4576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15573FC3-9FD3-C100-8AFB-7C12BA0CF1B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439" y="1227659"/>
            <a:ext cx="8885121" cy="4402681"/>
          </a:xfrm>
        </p:spPr>
      </p:pic>
    </p:spTree>
    <p:extLst>
      <p:ext uri="{BB962C8B-B14F-4D97-AF65-F5344CB8AC3E}">
        <p14:creationId xmlns:p14="http://schemas.microsoft.com/office/powerpoint/2010/main" val="258590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6114E-6A08-C5CB-BFD6-E0A28EAF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EDB3-A101-74BF-6EB5-E0828DD18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/>
          <a:lstStyle/>
          <a:p>
            <a:r>
              <a:rPr lang="en-US" dirty="0"/>
              <a:t>Exploratory Data Analysis →</a:t>
            </a:r>
          </a:p>
        </p:txBody>
      </p:sp>
    </p:spTree>
    <p:extLst>
      <p:ext uri="{BB962C8B-B14F-4D97-AF65-F5344CB8AC3E}">
        <p14:creationId xmlns:p14="http://schemas.microsoft.com/office/powerpoint/2010/main" val="563359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07D6D-98FB-EB5D-5F12-58EFBB9B9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4688FBC-3D1F-009A-25E9-7CA05E90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087" y="685784"/>
            <a:ext cx="10653578" cy="699263"/>
          </a:xfrm>
        </p:spPr>
        <p:txBody>
          <a:bodyPr/>
          <a:lstStyle/>
          <a:p>
            <a:pPr algn="ctr"/>
            <a:r>
              <a:rPr lang="en-US" dirty="0"/>
              <a:t>Fields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A26DE46-AE50-753F-41F0-C908199779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8931117"/>
              </p:ext>
            </p:extLst>
          </p:nvPr>
        </p:nvGraphicFramePr>
        <p:xfrm>
          <a:off x="2582861" y="1648702"/>
          <a:ext cx="6612029" cy="393669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31939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1339702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3740388">
                  <a:extLst>
                    <a:ext uri="{9D8B030D-6E8A-4147-A177-3AD203B41FA5}">
                      <a16:colId xmlns:a16="http://schemas.microsoft.com/office/drawing/2014/main" val="3338054882"/>
                    </a:ext>
                  </a:extLst>
                </a:gridCol>
              </a:tblGrid>
              <a:tr h="6448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Type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FOLIO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object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Folio of parcel. Primary key to rejoin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SITE_ZIP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Postal zip code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tBEDS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beds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tBATHS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baths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295061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tSTORIES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stories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0913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tUNITS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units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680973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tBLDGS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Number of buildings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459096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HEAT_AR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Heat area in sqft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3848906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ACREAGE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Acreage of lot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4257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LU_GRP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Generalized land use group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40881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S_YEAR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category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Sale year derived from sale date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59974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S_AMT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float64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Sale Amount. Response value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977830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2803A60-C714-10F2-866D-B0679F31BE78}"/>
              </a:ext>
            </a:extLst>
          </p:cNvPr>
          <p:cNvSpPr txBox="1"/>
          <p:nvPr/>
        </p:nvSpPr>
        <p:spPr>
          <a:xfrm>
            <a:off x="1543143" y="5849050"/>
            <a:ext cx="910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Numerical fields are represented as floats due to how these values are stored and permitted.</a:t>
            </a:r>
          </a:p>
        </p:txBody>
      </p:sp>
    </p:spTree>
    <p:extLst>
      <p:ext uri="{BB962C8B-B14F-4D97-AF65-F5344CB8AC3E}">
        <p14:creationId xmlns:p14="http://schemas.microsoft.com/office/powerpoint/2010/main" val="2316409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76FD3-9C34-216C-B531-F1AE6F05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A5EA-3685-67AD-FBD9-92BFBF51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30" y="444989"/>
            <a:ext cx="10992540" cy="71459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Evaluating Feature Relationships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219F08B-9336-35AA-6AC2-002E60E62B66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1352311" y="5411244"/>
                <a:ext cx="8600022" cy="1237017"/>
              </a:xfrm>
            </p:spPr>
            <p:txBody>
              <a:bodyPr>
                <a:normAutofit/>
              </a:bodyPr>
              <a:lstStyle/>
              <a:p>
                <a:r>
                  <a:rPr lang="en-US" sz="1400" b="1" dirty="0"/>
                  <a:t>Correlation</a:t>
                </a:r>
                <a:r>
                  <a:rPr lang="en-US" sz="1400" dirty="0"/>
                  <a:t>: There is a strong correlation between beds to baths (0.86) and stories to buildings (0.82), and all predictors have a weak correlation to sales price.</a:t>
                </a:r>
              </a:p>
              <a:p>
                <a:r>
                  <a:rPr lang="en-US" sz="1400" b="1" dirty="0"/>
                  <a:t>Multicollinearity</a:t>
                </a:r>
                <a:r>
                  <a:rPr lang="en-US" sz="1400" dirty="0"/>
                  <a:t>: No predictors have a high Variance Influence Factor (VIF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400" dirty="0"/>
                  <a:t>10) while the # stories and # beds have a moderate VIF.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219F08B-9336-35AA-6AC2-002E60E62B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1352311" y="5411244"/>
                <a:ext cx="8600022" cy="1237017"/>
              </a:xfrm>
              <a:blipFill>
                <a:blip r:embed="rId2"/>
                <a:stretch>
                  <a:fillRect l="-147" r="-295"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57B71C33-66BE-52DF-E5D0-04CEF93FA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91" y="1768836"/>
            <a:ext cx="4186731" cy="347975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55617B-DC75-0938-1A42-807EABA33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499020"/>
              </p:ext>
            </p:extLst>
          </p:nvPr>
        </p:nvGraphicFramePr>
        <p:xfrm>
          <a:off x="7216085" y="1768835"/>
          <a:ext cx="2491586" cy="2838450"/>
        </p:xfrm>
        <a:graphic>
          <a:graphicData uri="http://schemas.openxmlformats.org/drawingml/2006/table">
            <a:tbl>
              <a:tblPr/>
              <a:tblGrid>
                <a:gridCol w="1310816">
                  <a:extLst>
                    <a:ext uri="{9D8B030D-6E8A-4147-A177-3AD203B41FA5}">
                      <a16:colId xmlns:a16="http://schemas.microsoft.com/office/drawing/2014/main" val="1832851021"/>
                    </a:ext>
                  </a:extLst>
                </a:gridCol>
                <a:gridCol w="1180770">
                  <a:extLst>
                    <a:ext uri="{9D8B030D-6E8A-4147-A177-3AD203B41FA5}">
                      <a16:colId xmlns:a16="http://schemas.microsoft.com/office/drawing/2014/main" val="925799015"/>
                    </a:ext>
                  </a:extLst>
                </a:gridCol>
              </a:tblGrid>
              <a:tr h="2530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Feature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866602"/>
                  </a:ext>
                </a:extLst>
              </a:tr>
              <a:tr h="253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tSTORIES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678026"/>
                  </a:ext>
                </a:extLst>
              </a:tr>
              <a:tr h="253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tBEDS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453521"/>
                  </a:ext>
                </a:extLst>
              </a:tr>
              <a:tr h="253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tBATHS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986091"/>
                  </a:ext>
                </a:extLst>
              </a:tr>
              <a:tr h="253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793107"/>
                  </a:ext>
                </a:extLst>
              </a:tr>
              <a:tr h="253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tBLDGS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904017"/>
                  </a:ext>
                </a:extLst>
              </a:tr>
              <a:tr h="253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HEAT_AR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94418"/>
                  </a:ext>
                </a:extLst>
              </a:tr>
              <a:tr h="253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tUNITS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256662"/>
                  </a:ext>
                </a:extLst>
              </a:tr>
              <a:tr h="253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ACREAGE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200503"/>
                  </a:ext>
                </a:extLst>
              </a:tr>
              <a:tr h="253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S_AMT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19367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2F4D903-829E-DA91-8B36-4F5791809CD1}"/>
              </a:ext>
            </a:extLst>
          </p:cNvPr>
          <p:cNvSpPr txBox="1"/>
          <p:nvPr/>
        </p:nvSpPr>
        <p:spPr>
          <a:xfrm>
            <a:off x="2605008" y="1399503"/>
            <a:ext cx="1907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Correlation Plot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84D3B9-1B54-CCCF-F62C-A67C559CD24B}"/>
              </a:ext>
            </a:extLst>
          </p:cNvPr>
          <p:cNvSpPr txBox="1"/>
          <p:nvPr/>
        </p:nvSpPr>
        <p:spPr>
          <a:xfrm>
            <a:off x="7168094" y="1399503"/>
            <a:ext cx="2587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Multicollinearity Table</a:t>
            </a:r>
          </a:p>
        </p:txBody>
      </p:sp>
    </p:spTree>
    <p:extLst>
      <p:ext uri="{BB962C8B-B14F-4D97-AF65-F5344CB8AC3E}">
        <p14:creationId xmlns:p14="http://schemas.microsoft.com/office/powerpoint/2010/main" val="3562120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D4ADB1-1175-8891-CC64-93014006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087" y="685784"/>
            <a:ext cx="10653578" cy="699263"/>
          </a:xfrm>
        </p:spPr>
        <p:txBody>
          <a:bodyPr/>
          <a:lstStyle/>
          <a:p>
            <a:pPr algn="ctr"/>
            <a:r>
              <a:rPr lang="en-US" dirty="0"/>
              <a:t>Number of Sales by Land Use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780BEB-FFD1-3971-F361-1B40A8D66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545308"/>
              </p:ext>
            </p:extLst>
          </p:nvPr>
        </p:nvGraphicFramePr>
        <p:xfrm>
          <a:off x="1543143" y="1737347"/>
          <a:ext cx="9105713" cy="361458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303807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1021976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779930">
                  <a:extLst>
                    <a:ext uri="{9D8B030D-6E8A-4147-A177-3AD203B41FA5}">
                      <a16:colId xmlns:a16="http://schemas.microsoft.com/office/drawing/2014/main" val="3338054882"/>
                    </a:ext>
                  </a:extLst>
                </a:gridCol>
              </a:tblGrid>
              <a:tr h="6448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Land Use Group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Count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40916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SINGLE FAMILY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1,811,627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76.99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40916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MULTI-FAMILY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241,635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10.27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40916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 RESIDENT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70,837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  <a:tr h="40916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MOBILE HOMES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62,889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2950618"/>
                  </a:ext>
                </a:extLst>
              </a:tr>
              <a:tr h="40916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COMM./OFFICE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35,423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091396"/>
                  </a:ext>
                </a:extLst>
              </a:tr>
              <a:tr h="40916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OTHER: </a:t>
                      </a:r>
                      <a:r>
                        <a:rPr lang="en-US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(INVALID CODE, AGRICULTURAL, GOVERNMENT, STORE/SHP CENTE, INSTITUTIONAL, LIGHT INDUS., VACANT COMM., VACANT TOWNHOME, UTILITY, R/W, OFFICE CONDO, SCHOOLS/COLLEGE, VACANT INDUS., HEAVY INDUS., MEDICAL OFFICE CONDO, APT CONDO, COMMERCIAL, INDUSTRAL CONDO, CHURCH PARSONAGES, COOPERATIVE, 1 STY STORE CONDO, VACANT MH/COOP, SFR BLD ARND MH, MINING, MARINAS, CEMETERY, PRIVATE GC, SEMI PRIVATE GC, LANDSCAPE/WALL BUFFER, PARKS, HOA COMMERCIAL, EXEC/PRACTICE GC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130,731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5.56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680973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57C7A45-8349-BEB9-0A47-75917B2A80D9}"/>
              </a:ext>
            </a:extLst>
          </p:cNvPr>
          <p:cNvSpPr txBox="1"/>
          <p:nvPr/>
        </p:nvSpPr>
        <p:spPr>
          <a:xfrm>
            <a:off x="1543143" y="5704230"/>
            <a:ext cx="9105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vast majority of property sales are residential. </a:t>
            </a:r>
            <a:r>
              <a:rPr lang="en-US" b="1" dirty="0"/>
              <a:t>Focusing the analysis on single-family and multi-family</a:t>
            </a:r>
            <a:r>
              <a:rPr lang="en-US" dirty="0"/>
              <a:t> properties helps reduce potential bias from the imbalance in property types.</a:t>
            </a:r>
          </a:p>
        </p:txBody>
      </p:sp>
    </p:spTree>
    <p:extLst>
      <p:ext uri="{BB962C8B-B14F-4D97-AF65-F5344CB8AC3E}">
        <p14:creationId xmlns:p14="http://schemas.microsoft.com/office/powerpoint/2010/main" val="1135043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48A95-1DC7-2597-DC69-30D5FCBAB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7CF2-11EA-CB68-D17F-2B2907486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4"/>
            <a:ext cx="6796553" cy="705298"/>
          </a:xfrm>
        </p:spPr>
        <p:txBody>
          <a:bodyPr/>
          <a:lstStyle/>
          <a:p>
            <a:r>
              <a:rPr lang="en-US" dirty="0"/>
              <a:t>Outlier Detection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F8F2D-2F10-1104-1079-35239C0FA4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1553228"/>
            <a:ext cx="6796553" cy="4810996"/>
          </a:xfrm>
        </p:spPr>
        <p:txBody>
          <a:bodyPr>
            <a:normAutofit/>
          </a:bodyPr>
          <a:lstStyle/>
          <a:p>
            <a:r>
              <a:rPr lang="en-US" sz="1600" b="1" dirty="0"/>
              <a:t>Isolation Forest </a:t>
            </a:r>
            <a:r>
              <a:rPr lang="en-US" sz="1600" dirty="0"/>
              <a:t>was used due to its ability for scalability and high-dimensionality and hyper-tuned to find the best hyper-parameters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contamination = 0.025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n_estimators</a:t>
            </a:r>
            <a:r>
              <a:rPr lang="en-US" sz="1600" dirty="0"/>
              <a:t> = 250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max_sample_size</a:t>
            </a:r>
            <a:r>
              <a:rPr lang="en-US" sz="1600" dirty="0"/>
              <a:t> = 256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r>
              <a:rPr lang="en-US" sz="1600" dirty="0"/>
              <a:t>Heating area (</a:t>
            </a:r>
            <a:r>
              <a:rPr lang="en-US" sz="1600" dirty="0" err="1"/>
              <a:t>sqft</a:t>
            </a:r>
            <a:r>
              <a:rPr lang="en-US" sz="1600" dirty="0"/>
              <a:t>) was used for comparison to graphically represent the outlier/inlier relationships and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~11,000 data points removed from 2014–2024 on the </a:t>
            </a:r>
            <a:r>
              <a:rPr lang="en-US" sz="1600" b="1" dirty="0">
                <a:solidFill>
                  <a:srgbClr val="FF0000"/>
                </a:solidFill>
              </a:rPr>
              <a:t>Outliers</a:t>
            </a:r>
            <a:r>
              <a:rPr lang="en-US" sz="1600" dirty="0"/>
              <a:t> plot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Captured both sentinel values in the lower tail and extreme high-value properties in the upper tail as shown in the </a:t>
            </a:r>
            <a:r>
              <a:rPr lang="en-US" sz="1600" b="1" dirty="0">
                <a:solidFill>
                  <a:srgbClr val="808080"/>
                </a:solidFill>
              </a:rPr>
              <a:t>All Points </a:t>
            </a:r>
            <a:r>
              <a:rPr lang="en-US" sz="1600" dirty="0"/>
              <a:t>plot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A8A56A-0DA6-2F2B-F52E-16D65BCCF7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430" y="529726"/>
            <a:ext cx="4355114" cy="611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27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0F871-06D7-817D-6DB4-C25BD110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5" descr="A close-up of a spiral">
            <a:extLst>
              <a:ext uri="{FF2B5EF4-FFF2-40B4-BE49-F238E27FC236}">
                <a16:creationId xmlns:a16="http://schemas.microsoft.com/office/drawing/2014/main" id="{FCC4C6FE-F7B0-A699-70F9-8AC8A7745F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" t="-1" r="-3" b="15688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CD0B35-C6FE-DF08-89C7-248CDCE94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/>
          <a:lstStyle/>
          <a:p>
            <a:r>
              <a:rPr lang="en-US" dirty="0"/>
              <a:t>Final </a:t>
            </a:r>
            <a:r>
              <a:rPr lang="en-US"/>
              <a:t>data size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8A0AF-04B1-AA35-48F2-79DAC62193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4484" y="3657028"/>
            <a:ext cx="10543032" cy="1358623"/>
          </a:xfrm>
        </p:spPr>
        <p:txBody>
          <a:bodyPr/>
          <a:lstStyle/>
          <a:p>
            <a:r>
              <a:rPr lang="en-US" sz="5400" b="0" dirty="0" err="1">
                <a:solidFill>
                  <a:srgbClr val="CCCCCC"/>
                </a:solidFill>
                <a:latin typeface="Menlo" panose="020B0609030804020204" pitchFamily="49" charset="0"/>
              </a:rPr>
              <a:t>d</a:t>
            </a:r>
            <a:r>
              <a:rPr lang="en-US" sz="5400" b="0" i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f.shape</a:t>
            </a:r>
            <a:r>
              <a:rPr lang="en-US" sz="5400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= (425914, 12)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585510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CFAF2-60FC-5220-035F-38C99898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4684-AC03-A8AE-A0CF-6111EC59B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/>
          <a:lstStyle/>
          <a:p>
            <a:r>
              <a:rPr lang="en-US" dirty="0"/>
              <a:t>What’s Next →</a:t>
            </a:r>
          </a:p>
        </p:txBody>
      </p:sp>
    </p:spTree>
    <p:extLst>
      <p:ext uri="{BB962C8B-B14F-4D97-AF65-F5344CB8AC3E}">
        <p14:creationId xmlns:p14="http://schemas.microsoft.com/office/powerpoint/2010/main" val="884706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619F37-723B-00F0-1CD9-21C3C9488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8532" y="5319551"/>
            <a:ext cx="3369023" cy="7863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Placeholder 4" descr="A close-up of a network">
            <a:extLst>
              <a:ext uri="{FF2B5EF4-FFF2-40B4-BE49-F238E27FC236}">
                <a16:creationId xmlns:a16="http://schemas.microsoft.com/office/drawing/2014/main" id="{1C3420C8-E71D-2DEF-C553-090F74B4D66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52" b="3252"/>
          <a:stretch/>
        </p:blipFill>
        <p:spPr>
          <a:xfrm>
            <a:off x="0" y="599361"/>
            <a:ext cx="11001375" cy="4114800"/>
          </a:xfr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361C7B3-07CD-62DF-BDB4-7D68CEFB0144}"/>
              </a:ext>
            </a:extLst>
          </p:cNvPr>
          <p:cNvGrpSpPr/>
          <p:nvPr/>
        </p:nvGrpSpPr>
        <p:grpSpPr>
          <a:xfrm>
            <a:off x="303622" y="5051116"/>
            <a:ext cx="1561646" cy="1533736"/>
            <a:chOff x="1016859" y="4945875"/>
            <a:chExt cx="1561646" cy="1533736"/>
          </a:xfrm>
        </p:grpSpPr>
        <p:pic>
          <p:nvPicPr>
            <p:cNvPr id="4" name="Picture 3" descr="A black and white image of a cat in a circle&#10;&#10;AI-generated content may be incorrect.">
              <a:hlinkClick r:id="rId4"/>
              <a:extLst>
                <a:ext uri="{FF2B5EF4-FFF2-40B4-BE49-F238E27FC236}">
                  <a16:creationId xmlns:a16="http://schemas.microsoft.com/office/drawing/2014/main" id="{B3154BBE-C365-698E-C341-8F4F67F07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5304" y="5319551"/>
              <a:ext cx="1160060" cy="116006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623607-D91A-8F6E-6C30-A9F761C99CC7}"/>
                </a:ext>
              </a:extLst>
            </p:cNvPr>
            <p:cNvSpPr txBox="1"/>
            <p:nvPr/>
          </p:nvSpPr>
          <p:spPr>
            <a:xfrm>
              <a:off x="1016859" y="4945875"/>
              <a:ext cx="156164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/>
                <a:t>Scan or Click for </a:t>
              </a:r>
            </a:p>
            <a:p>
              <a:pPr algn="ctr"/>
              <a:r>
                <a:rPr lang="en-US" sz="1100" dirty="0"/>
                <a:t>the project’s GitHub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3201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06314-5A32-8BAA-A939-4C7E3DB73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C41DF-4C85-9BC9-D4EE-13B26BB2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8D5B2-19BE-F5BC-80CE-631819D92E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4484" y="809412"/>
            <a:ext cx="10543032" cy="4206240"/>
          </a:xfrm>
        </p:spPr>
        <p:txBody>
          <a:bodyPr/>
          <a:lstStyle/>
          <a:p>
            <a:r>
              <a:rPr lang="en-US" dirty="0"/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4111371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/>
          <a:lstStyle/>
          <a:p>
            <a:r>
              <a:rPr lang="en-US" dirty="0"/>
              <a:t>Forecasting for the future →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E53E0-3901-B17A-F4FD-B83343C8F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09AD7-F13E-D780-F1AE-5100AB41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/>
          <a:lstStyle/>
          <a:p>
            <a:r>
              <a:rPr lang="en-US" dirty="0"/>
              <a:t>Financial growth &amp; objectives</a:t>
            </a:r>
          </a:p>
        </p:txBody>
      </p:sp>
      <p:pic>
        <p:nvPicPr>
          <p:cNvPr id="6" name="Picture Placeholder 5" descr="A close-up of a spiral">
            <a:extLst>
              <a:ext uri="{FF2B5EF4-FFF2-40B4-BE49-F238E27FC236}">
                <a16:creationId xmlns:a16="http://schemas.microsoft.com/office/drawing/2014/main" id="{CB1642D6-2DF2-194B-D001-A5B6AA2A466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63" r="29863"/>
          <a:stretch/>
        </p:blipFill>
        <p:spPr>
          <a:xfrm>
            <a:off x="535580" y="647514"/>
            <a:ext cx="3749041" cy="621048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0580B-FF89-4735-F186-7AC9E148D76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>
            <a:normAutofit/>
          </a:bodyPr>
          <a:lstStyle/>
          <a:p>
            <a:r>
              <a:rPr lang="en-US" sz="1400" b="1" dirty="0"/>
              <a:t>Short-term goals</a:t>
            </a:r>
          </a:p>
          <a:p>
            <a:r>
              <a:rPr lang="en-US" sz="1400" dirty="0"/>
              <a:t>Our immediate focus is on cost control and operational efficiency to maximize cash flow. 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Long-term growth</a:t>
            </a:r>
          </a:p>
          <a:p>
            <a:r>
              <a:rPr lang="en-US" sz="1400" dirty="0"/>
              <a:t>For our long-term growth, we are committed to expanding into new markets while maintaining financial stability.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Risk mitigation</a:t>
            </a:r>
          </a:p>
          <a:p>
            <a:r>
              <a:rPr lang="en-US" sz="1400" dirty="0"/>
              <a:t>To safeguard our business against potential risks, we will develop strategies to hedge against economic downturns and market volatility. </a:t>
            </a:r>
          </a:p>
        </p:txBody>
      </p:sp>
    </p:spTree>
    <p:extLst>
      <p:ext uri="{BB962C8B-B14F-4D97-AF65-F5344CB8AC3E}">
        <p14:creationId xmlns:p14="http://schemas.microsoft.com/office/powerpoint/2010/main" val="1697266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F6DB-B071-2DCC-F666-432839F88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/>
          <a:lstStyle/>
          <a:p>
            <a:r>
              <a:rPr lang="en-US" dirty="0"/>
              <a:t>Budget allocation</a:t>
            </a:r>
          </a:p>
        </p:txBody>
      </p:sp>
      <p:pic>
        <p:nvPicPr>
          <p:cNvPr id="8" name="Picture Placeholder 7" descr="A black and white background with white lines">
            <a:extLst>
              <a:ext uri="{FF2B5EF4-FFF2-40B4-BE49-F238E27FC236}">
                <a16:creationId xmlns:a16="http://schemas.microsoft.com/office/drawing/2014/main" id="{3B19CCC6-A577-9F0D-52BE-AC728F2512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81" b="19581"/>
          <a:stretch/>
        </p:blipFill>
        <p:spPr>
          <a:xfrm>
            <a:off x="1" y="0"/>
            <a:ext cx="10869559" cy="3778270"/>
          </a:xfrm>
          <a:blipFill dpi="0" rotWithShape="0">
            <a:blip r:embed="rId3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6CD6B-3F42-5630-5186-A2978156C3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/>
          <a:lstStyle/>
          <a:p>
            <a:r>
              <a:rPr lang="en-US" dirty="0"/>
              <a:t>By focusing our financial resources on high-impact areas like technology and talent acquisition, we aim to drive innovation and enhance our competitive edge.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210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049C88-D376-4280-99CE-BA43CE6F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221BB-99CE-8D2F-8FFB-9CBE5D3F7B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548640"/>
            <a:ext cx="8266176" cy="5605272"/>
          </a:xfrm>
        </p:spPr>
        <p:txBody>
          <a:bodyPr/>
          <a:lstStyle/>
          <a:p>
            <a:r>
              <a:rPr lang="en-US" dirty="0"/>
              <a:t>Smart financial decisions today drive lasting success for the future.</a:t>
            </a:r>
          </a:p>
        </p:txBody>
      </p:sp>
    </p:spTree>
    <p:extLst>
      <p:ext uri="{BB962C8B-B14F-4D97-AF65-F5344CB8AC3E}">
        <p14:creationId xmlns:p14="http://schemas.microsoft.com/office/powerpoint/2010/main" val="835666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C1E9-DA00-BD07-9D90-D65485267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868" y="5196402"/>
            <a:ext cx="8970264" cy="466344"/>
          </a:xfrm>
        </p:spPr>
        <p:txBody>
          <a:bodyPr>
            <a:normAutofit fontScale="90000"/>
          </a:bodyPr>
          <a:lstStyle/>
          <a:p>
            <a:r>
              <a:rPr lang="en-US" dirty="0"/>
              <a:t>Andrew Carnegie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1C6A3-EEB1-8526-580F-D4CCB4EAA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6568" y="1188720"/>
            <a:ext cx="9198864" cy="3657600"/>
          </a:xfrm>
        </p:spPr>
        <p:txBody>
          <a:bodyPr/>
          <a:lstStyle/>
          <a:p>
            <a:r>
              <a:rPr lang="en-US" dirty="0"/>
              <a:t>“The first one gets the oyster, the second gets the shell.”</a:t>
            </a:r>
          </a:p>
        </p:txBody>
      </p:sp>
    </p:spTree>
    <p:extLst>
      <p:ext uri="{BB962C8B-B14F-4D97-AF65-F5344CB8AC3E}">
        <p14:creationId xmlns:p14="http://schemas.microsoft.com/office/powerpoint/2010/main" val="2759999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6D9E-852B-3816-E707-030B4AAE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/>
          <a:lstStyle/>
          <a:p>
            <a:r>
              <a:rPr lang="en-US" dirty="0"/>
              <a:t>Strategies for sustainable growth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42E1-6654-C28E-582C-BBB889D810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>
            <a:normAutofit/>
          </a:bodyPr>
          <a:lstStyle/>
          <a:p>
            <a:r>
              <a:rPr lang="en-US" sz="1600" b="1" dirty="0"/>
              <a:t>High-return opportunities</a:t>
            </a:r>
          </a:p>
          <a:p>
            <a:r>
              <a:rPr lang="en-US" sz="1400" dirty="0"/>
              <a:t>Targeted investments support long-term expansion. By focusing on high-return opportunities, we can maximize our growth potential and achieve sustainable success.</a:t>
            </a:r>
            <a:br>
              <a:rPr lang="en-US" dirty="0"/>
            </a:br>
            <a:br>
              <a:rPr lang="en-US" dirty="0"/>
            </a:br>
            <a:r>
              <a:rPr lang="en-US" sz="1600" b="1" dirty="0"/>
              <a:t>Technology integration</a:t>
            </a:r>
          </a:p>
          <a:p>
            <a:r>
              <a:rPr lang="en-US" sz="1400" dirty="0"/>
              <a:t>Leveraging AI and automation to drive financial efficiency. By integrating advanced technologies into our operations, we can streamline processes, reduce costs, and enhance productivity.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8408E-E097-13F4-F7FE-4A1C307187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>
            <a:normAutofit/>
          </a:bodyPr>
          <a:lstStyle/>
          <a:p>
            <a:r>
              <a:rPr lang="en-US" sz="1600" b="1" dirty="0"/>
              <a:t>Market expansion</a:t>
            </a:r>
          </a:p>
          <a:p>
            <a:r>
              <a:rPr lang="en-US" sz="1400" dirty="0"/>
              <a:t>Entering new territories to maximize profitability. Expanding into new markets allows us to diversify our revenue streams and reduce our reliance on existing markets. </a:t>
            </a:r>
            <a:br>
              <a:rPr lang="en-US" dirty="0"/>
            </a:br>
            <a:br>
              <a:rPr lang="en-US" sz="1600" dirty="0"/>
            </a:br>
            <a:r>
              <a:rPr lang="en-US" sz="1600" b="1" dirty="0"/>
              <a:t>Risk management</a:t>
            </a:r>
          </a:p>
          <a:p>
            <a:r>
              <a:rPr lang="en-US" sz="1400" dirty="0"/>
              <a:t>We implement strategies to hedge against financial uncertainties. By proactively managing risks, we can safeguard our business against potential threats and ensure long-term stability.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080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27D89-B835-A258-1B88-DAD0EC9B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6B098-07CD-E3AB-8D59-1F6D332A8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/>
          <a:lstStyle/>
          <a:p>
            <a:r>
              <a:rPr lang="en-US" dirty="0"/>
              <a:t>Moving forward with confidence</a:t>
            </a:r>
          </a:p>
        </p:txBody>
      </p:sp>
      <p:graphicFrame>
        <p:nvGraphicFramePr>
          <p:cNvPr id="4" name="Content Placeholder 3" descr="Flexible text blocks SmartArt graphic">
            <a:extLst>
              <a:ext uri="{FF2B5EF4-FFF2-40B4-BE49-F238E27FC236}">
                <a16:creationId xmlns:a16="http://schemas.microsoft.com/office/drawing/2014/main" id="{74EB195D-3875-1400-360B-7FE7F47696E9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549275" y="2867024"/>
          <a:ext cx="10890250" cy="3151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6637262"/>
      </p:ext>
    </p:extLst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Blue_Finance_win32_EF_v3" id="{27365B25-6984-4000-9C02-6DCA100ED127}" vid="{66FB4534-C562-46C7-916B-576895C253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2846</TotalTime>
  <Words>1265</Words>
  <Application>Microsoft Macintosh PowerPoint</Application>
  <PresentationFormat>Widescreen</PresentationFormat>
  <Paragraphs>195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Aptos Narrow</vt:lpstr>
      <vt:lpstr>Arial</vt:lpstr>
      <vt:lpstr>Cambria Math</vt:lpstr>
      <vt:lpstr>Century Gothic</vt:lpstr>
      <vt:lpstr>Courier New</vt:lpstr>
      <vt:lpstr>Menlo</vt:lpstr>
      <vt:lpstr>Raleway</vt:lpstr>
      <vt:lpstr>Raleway Medium</vt:lpstr>
      <vt:lpstr>Sleek Blue</vt:lpstr>
      <vt:lpstr>Hillsborough County Parcel Sales Prediction</vt:lpstr>
      <vt:lpstr>Purpose </vt:lpstr>
      <vt:lpstr>Background →</vt:lpstr>
      <vt:lpstr>Current Problems</vt:lpstr>
      <vt:lpstr>Notable Research Summary</vt:lpstr>
      <vt:lpstr>Data Sources</vt:lpstr>
      <vt:lpstr>Methodology →</vt:lpstr>
      <vt:lpstr>Data Engineering Pipeline</vt:lpstr>
      <vt:lpstr>Analytics and Modeling Approach</vt:lpstr>
      <vt:lpstr>PowerPoint Presentation</vt:lpstr>
      <vt:lpstr>Exploratory Data Analysis →</vt:lpstr>
      <vt:lpstr>Fields</vt:lpstr>
      <vt:lpstr>Evaluating Feature Relationships</vt:lpstr>
      <vt:lpstr>Number of Sales by Land Use</vt:lpstr>
      <vt:lpstr>Outlier Detection</vt:lpstr>
      <vt:lpstr>Final data size </vt:lpstr>
      <vt:lpstr>What’s Next →</vt:lpstr>
      <vt:lpstr>Thank you</vt:lpstr>
      <vt:lpstr>PowerPoint Presentation</vt:lpstr>
      <vt:lpstr>Forecasting for the future →</vt:lpstr>
      <vt:lpstr>Financial growth &amp; objectives</vt:lpstr>
      <vt:lpstr>Budget allocation</vt:lpstr>
      <vt:lpstr>Quote</vt:lpstr>
      <vt:lpstr>Andrew Carnegie</vt:lpstr>
      <vt:lpstr>Strategies for sustainable growth</vt:lpstr>
      <vt:lpstr>Moving forward with confidence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Fethe, Bo J</cp:lastModifiedBy>
  <cp:revision>8</cp:revision>
  <dcterms:created xsi:type="dcterms:W3CDTF">2024-06-26T20:20:27Z</dcterms:created>
  <dcterms:modified xsi:type="dcterms:W3CDTF">2025-06-10T04:01:48Z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